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alibri (MS) Bold" charset="1" panose="020F0702030404030204"/>
      <p:regular r:id="rId13"/>
    </p:embeddedFont>
    <p:embeddedFont>
      <p:font typeface="Calibri (MS)" charset="1" panose="020F050202020403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76257"/>
            <a:chOff x="0" y="0"/>
            <a:chExt cx="24402453" cy="101676"/>
          </a:xfrm>
        </p:grpSpPr>
        <p:sp>
          <p:nvSpPr>
            <p:cNvPr name="Freeform 3" id="3"/>
            <p:cNvSpPr/>
            <p:nvPr/>
          </p:nvSpPr>
          <p:spPr>
            <a:xfrm flipH="false" flipV="false" rot="0">
              <a:off x="0" y="0"/>
              <a:ext cx="24402414" cy="101727"/>
            </a:xfrm>
            <a:custGeom>
              <a:avLst/>
              <a:gdLst/>
              <a:ahLst/>
              <a:cxnLst/>
              <a:rect r="r" b="b" t="t" l="l"/>
              <a:pathLst>
                <a:path h="101727" w="24402414">
                  <a:moveTo>
                    <a:pt x="0" y="0"/>
                  </a:moveTo>
                  <a:lnTo>
                    <a:pt x="24402414" y="0"/>
                  </a:lnTo>
                  <a:lnTo>
                    <a:pt x="24402414" y="101727"/>
                  </a:lnTo>
                  <a:lnTo>
                    <a:pt x="0" y="101727"/>
                  </a:lnTo>
                  <a:close/>
                </a:path>
              </a:pathLst>
            </a:custGeom>
            <a:solidFill>
              <a:srgbClr val="00F0C8"/>
            </a:solidFill>
          </p:spPr>
        </p:sp>
      </p:grpSp>
      <p:grpSp>
        <p:nvGrpSpPr>
          <p:cNvPr name="Group 4" id="4"/>
          <p:cNvGrpSpPr/>
          <p:nvPr/>
        </p:nvGrpSpPr>
        <p:grpSpPr>
          <a:xfrm rot="0">
            <a:off x="1098137" y="1372676"/>
            <a:ext cx="1647206" cy="411804"/>
            <a:chOff x="0" y="0"/>
            <a:chExt cx="2196274" cy="549072"/>
          </a:xfrm>
        </p:grpSpPr>
        <p:sp>
          <p:nvSpPr>
            <p:cNvPr name="Freeform 5" id="5"/>
            <p:cNvSpPr/>
            <p:nvPr/>
          </p:nvSpPr>
          <p:spPr>
            <a:xfrm flipH="false" flipV="false" rot="0">
              <a:off x="0" y="0"/>
              <a:ext cx="2196338" cy="549148"/>
            </a:xfrm>
            <a:custGeom>
              <a:avLst/>
              <a:gdLst/>
              <a:ahLst/>
              <a:cxnLst/>
              <a:rect r="r" b="b" t="t" l="l"/>
              <a:pathLst>
                <a:path h="549148" w="2196338">
                  <a:moveTo>
                    <a:pt x="0" y="274574"/>
                  </a:moveTo>
                  <a:cubicBezTo>
                    <a:pt x="0" y="122936"/>
                    <a:pt x="122936" y="0"/>
                    <a:pt x="274574" y="0"/>
                  </a:cubicBezTo>
                  <a:lnTo>
                    <a:pt x="1921764" y="0"/>
                  </a:lnTo>
                  <a:cubicBezTo>
                    <a:pt x="2073402" y="0"/>
                    <a:pt x="2196338" y="122936"/>
                    <a:pt x="2196338" y="274574"/>
                  </a:cubicBezTo>
                  <a:cubicBezTo>
                    <a:pt x="2196338" y="426212"/>
                    <a:pt x="2073402" y="549148"/>
                    <a:pt x="1921764" y="549148"/>
                  </a:cubicBezTo>
                  <a:lnTo>
                    <a:pt x="274574" y="549148"/>
                  </a:lnTo>
                  <a:cubicBezTo>
                    <a:pt x="122936" y="549021"/>
                    <a:pt x="0" y="426212"/>
                    <a:pt x="0" y="274574"/>
                  </a:cubicBezTo>
                  <a:close/>
                </a:path>
              </a:pathLst>
            </a:custGeom>
            <a:solidFill>
              <a:srgbClr val="00F0C8"/>
            </a:solidFill>
          </p:spPr>
        </p:sp>
        <p:sp>
          <p:nvSpPr>
            <p:cNvPr name="TextBox 6" id="6"/>
            <p:cNvSpPr txBox="true"/>
            <p:nvPr/>
          </p:nvSpPr>
          <p:spPr>
            <a:xfrm>
              <a:off x="0" y="-28575"/>
              <a:ext cx="2196274" cy="577647"/>
            </a:xfrm>
            <a:prstGeom prst="rect">
              <a:avLst/>
            </a:prstGeom>
          </p:spPr>
          <p:txBody>
            <a:bodyPr anchor="ctr" rtlCol="false" tIns="50800" lIns="50800" bIns="50800" rIns="50800"/>
            <a:lstStyle/>
            <a:p>
              <a:pPr algn="ctr">
                <a:lnSpc>
                  <a:spcPts val="1981"/>
                </a:lnSpc>
              </a:pPr>
              <a:r>
                <a:rPr lang="en-US" sz="1651" b="true">
                  <a:solidFill>
                    <a:srgbClr val="0B0E17"/>
                  </a:solidFill>
                  <a:latin typeface="Calibri (MS) Bold"/>
                  <a:ea typeface="Calibri (MS) Bold"/>
                  <a:cs typeface="Calibri (MS) Bold"/>
                  <a:sym typeface="Calibri (MS) Bold"/>
                </a:rPr>
                <a:t>TRACK 04.1</a:t>
              </a:r>
            </a:p>
          </p:txBody>
        </p:sp>
      </p:grpSp>
      <p:grpSp>
        <p:nvGrpSpPr>
          <p:cNvPr name="Group 7" id="7"/>
          <p:cNvGrpSpPr/>
          <p:nvPr/>
        </p:nvGrpSpPr>
        <p:grpSpPr>
          <a:xfrm rot="0">
            <a:off x="2882608" y="1372676"/>
            <a:ext cx="2017833" cy="411804"/>
            <a:chOff x="0" y="0"/>
            <a:chExt cx="2690444" cy="549072"/>
          </a:xfrm>
        </p:grpSpPr>
        <p:sp>
          <p:nvSpPr>
            <p:cNvPr name="Freeform 8" id="8"/>
            <p:cNvSpPr/>
            <p:nvPr/>
          </p:nvSpPr>
          <p:spPr>
            <a:xfrm flipH="false" flipV="false" rot="0">
              <a:off x="0" y="0"/>
              <a:ext cx="2690495" cy="549148"/>
            </a:xfrm>
            <a:custGeom>
              <a:avLst/>
              <a:gdLst/>
              <a:ahLst/>
              <a:cxnLst/>
              <a:rect r="r" b="b" t="t" l="l"/>
              <a:pathLst>
                <a:path h="549148" w="2690495">
                  <a:moveTo>
                    <a:pt x="0" y="274574"/>
                  </a:moveTo>
                  <a:cubicBezTo>
                    <a:pt x="0" y="122936"/>
                    <a:pt x="122936" y="0"/>
                    <a:pt x="274574" y="0"/>
                  </a:cubicBezTo>
                  <a:lnTo>
                    <a:pt x="2415921" y="0"/>
                  </a:lnTo>
                  <a:cubicBezTo>
                    <a:pt x="2567559" y="0"/>
                    <a:pt x="2690495" y="122936"/>
                    <a:pt x="2690495" y="274574"/>
                  </a:cubicBezTo>
                  <a:cubicBezTo>
                    <a:pt x="2690495" y="426212"/>
                    <a:pt x="2567559" y="549148"/>
                    <a:pt x="2415921" y="549148"/>
                  </a:cubicBezTo>
                  <a:lnTo>
                    <a:pt x="274574" y="549148"/>
                  </a:lnTo>
                  <a:cubicBezTo>
                    <a:pt x="122936" y="549021"/>
                    <a:pt x="0" y="426212"/>
                    <a:pt x="0" y="274574"/>
                  </a:cubicBezTo>
                  <a:close/>
                </a:path>
              </a:pathLst>
            </a:custGeom>
            <a:solidFill>
              <a:srgbClr val="009EFF"/>
            </a:solidFill>
          </p:spPr>
        </p:sp>
        <p:sp>
          <p:nvSpPr>
            <p:cNvPr name="TextBox 9" id="9"/>
            <p:cNvSpPr txBox="true"/>
            <p:nvPr/>
          </p:nvSpPr>
          <p:spPr>
            <a:xfrm>
              <a:off x="0" y="-28575"/>
              <a:ext cx="2690444" cy="577647"/>
            </a:xfrm>
            <a:prstGeom prst="rect">
              <a:avLst/>
            </a:prstGeom>
          </p:spPr>
          <p:txBody>
            <a:bodyPr anchor="ctr" rtlCol="false" tIns="50800" lIns="50800" bIns="50800" rIns="50800"/>
            <a:lstStyle/>
            <a:p>
              <a:pPr algn="ctr">
                <a:lnSpc>
                  <a:spcPts val="1981"/>
                </a:lnSpc>
              </a:pPr>
              <a:r>
                <a:rPr lang="en-US" sz="1651" b="true">
                  <a:solidFill>
                    <a:srgbClr val="0B0E17"/>
                  </a:solidFill>
                  <a:latin typeface="Calibri (MS) Bold"/>
                  <a:ea typeface="Calibri (MS) Bold"/>
                  <a:cs typeface="Calibri (MS) Bold"/>
                  <a:sym typeface="Calibri (MS) Bold"/>
                </a:rPr>
                <a:t>CYBERSECURITY</a:t>
              </a:r>
            </a:p>
          </p:txBody>
        </p:sp>
      </p:grpSp>
      <p:sp>
        <p:nvSpPr>
          <p:cNvPr name="TextBox 10" id="10"/>
          <p:cNvSpPr txBox="true"/>
          <p:nvPr/>
        </p:nvSpPr>
        <p:spPr>
          <a:xfrm rot="0">
            <a:off x="1189577" y="2080069"/>
            <a:ext cx="12171169" cy="1717691"/>
          </a:xfrm>
          <a:prstGeom prst="rect">
            <a:avLst/>
          </a:prstGeom>
        </p:spPr>
        <p:txBody>
          <a:bodyPr anchor="t" rtlCol="false" tIns="0" lIns="0" bIns="0" rIns="0">
            <a:spAutoFit/>
          </a:bodyPr>
          <a:lstStyle/>
          <a:p>
            <a:pPr algn="l">
              <a:lnSpc>
                <a:spcPts val="9367"/>
              </a:lnSpc>
            </a:pPr>
            <a:r>
              <a:rPr lang="en-US" sz="7806" b="true">
                <a:solidFill>
                  <a:srgbClr val="00F0C8"/>
                </a:solidFill>
                <a:latin typeface="Calibri (MS) Bold"/>
                <a:ea typeface="Calibri (MS) Bold"/>
                <a:cs typeface="Calibri (MS) Bold"/>
                <a:sym typeface="Calibri (MS) Bold"/>
              </a:rPr>
              <a:t>ScamShield AI</a:t>
            </a:r>
          </a:p>
        </p:txBody>
      </p:sp>
      <p:sp>
        <p:nvSpPr>
          <p:cNvPr name="TextBox 11" id="11"/>
          <p:cNvSpPr txBox="true"/>
          <p:nvPr/>
        </p:nvSpPr>
        <p:spPr>
          <a:xfrm rot="0">
            <a:off x="1189577" y="3685261"/>
            <a:ext cx="13543845" cy="1073372"/>
          </a:xfrm>
          <a:prstGeom prst="rect">
            <a:avLst/>
          </a:prstGeom>
        </p:spPr>
        <p:txBody>
          <a:bodyPr anchor="t" rtlCol="false" tIns="0" lIns="0" bIns="0" rIns="0">
            <a:spAutoFit/>
          </a:bodyPr>
          <a:lstStyle/>
          <a:p>
            <a:pPr algn="l">
              <a:lnSpc>
                <a:spcPts val="3602"/>
              </a:lnSpc>
            </a:pPr>
            <a:r>
              <a:rPr lang="en-US" sz="3002">
                <a:solidFill>
                  <a:srgbClr val="EEEEF0"/>
                </a:solidFill>
                <a:latin typeface="Calibri (MS)"/>
                <a:ea typeface="Calibri (MS)"/>
                <a:cs typeface="Calibri (MS)"/>
                <a:sym typeface="Calibri (MS)"/>
              </a:rPr>
              <a:t>Real-Time Phishing Link &amp; QR Code Threat Analyzer with NLP-Powered Message Intelligence</a:t>
            </a:r>
          </a:p>
        </p:txBody>
      </p:sp>
      <p:grpSp>
        <p:nvGrpSpPr>
          <p:cNvPr name="Group 12" id="12"/>
          <p:cNvGrpSpPr/>
          <p:nvPr/>
        </p:nvGrpSpPr>
        <p:grpSpPr>
          <a:xfrm rot="0">
            <a:off x="1098137" y="4941618"/>
            <a:ext cx="4118019" cy="38129"/>
            <a:chOff x="0" y="0"/>
            <a:chExt cx="5490693" cy="50838"/>
          </a:xfrm>
        </p:grpSpPr>
        <p:sp>
          <p:nvSpPr>
            <p:cNvPr name="Freeform 13" id="13"/>
            <p:cNvSpPr/>
            <p:nvPr/>
          </p:nvSpPr>
          <p:spPr>
            <a:xfrm flipH="false" flipV="false" rot="0">
              <a:off x="0" y="0"/>
              <a:ext cx="5490718" cy="50800"/>
            </a:xfrm>
            <a:custGeom>
              <a:avLst/>
              <a:gdLst/>
              <a:ahLst/>
              <a:cxnLst/>
              <a:rect r="r" b="b" t="t" l="l"/>
              <a:pathLst>
                <a:path h="50800" w="5490718">
                  <a:moveTo>
                    <a:pt x="0" y="0"/>
                  </a:moveTo>
                  <a:lnTo>
                    <a:pt x="5490718" y="0"/>
                  </a:lnTo>
                  <a:lnTo>
                    <a:pt x="5490718" y="50800"/>
                  </a:lnTo>
                  <a:lnTo>
                    <a:pt x="0" y="50800"/>
                  </a:lnTo>
                  <a:close/>
                </a:path>
              </a:pathLst>
            </a:custGeom>
            <a:solidFill>
              <a:srgbClr val="00F0C8"/>
            </a:solidFill>
          </p:spPr>
        </p:sp>
      </p:grpSp>
      <p:sp>
        <p:nvSpPr>
          <p:cNvPr name="TextBox 14" id="14"/>
          <p:cNvSpPr txBox="true"/>
          <p:nvPr/>
        </p:nvSpPr>
        <p:spPr>
          <a:xfrm rot="0">
            <a:off x="1189577" y="5361041"/>
            <a:ext cx="13543845" cy="632993"/>
          </a:xfrm>
          <a:prstGeom prst="rect">
            <a:avLst/>
          </a:prstGeom>
        </p:spPr>
        <p:txBody>
          <a:bodyPr anchor="t" rtlCol="false" tIns="0" lIns="0" bIns="0" rIns="0">
            <a:spAutoFit/>
          </a:bodyPr>
          <a:lstStyle/>
          <a:p>
            <a:pPr algn="l">
              <a:lnSpc>
                <a:spcPts val="2161"/>
              </a:lnSpc>
            </a:pPr>
            <a:r>
              <a:rPr lang="en-US" sz="1801">
                <a:solidFill>
                  <a:srgbClr val="666E80"/>
                </a:solidFill>
                <a:latin typeface="Calibri (MS)"/>
                <a:ea typeface="Calibri (MS)"/>
                <a:cs typeface="Calibri (MS)"/>
                <a:sym typeface="Calibri (MS)"/>
              </a:rPr>
              <a:t>04.1  The Scam That Almost Worked — Fraud Detection · Social Engineering · UPI Payments · Zero-Trust Verification</a:t>
            </a:r>
          </a:p>
        </p:txBody>
      </p:sp>
      <p:grpSp>
        <p:nvGrpSpPr>
          <p:cNvPr name="Group 15" id="15"/>
          <p:cNvGrpSpPr/>
          <p:nvPr/>
        </p:nvGrpSpPr>
        <p:grpSpPr>
          <a:xfrm rot="0">
            <a:off x="1088603" y="6579299"/>
            <a:ext cx="7568765" cy="2764412"/>
            <a:chOff x="0" y="0"/>
            <a:chExt cx="10091687" cy="3685883"/>
          </a:xfrm>
        </p:grpSpPr>
        <p:sp>
          <p:nvSpPr>
            <p:cNvPr name="Freeform 16" id="16"/>
            <p:cNvSpPr/>
            <p:nvPr/>
          </p:nvSpPr>
          <p:spPr>
            <a:xfrm flipH="false" flipV="false" rot="0">
              <a:off x="0" y="0"/>
              <a:ext cx="10091674" cy="3685794"/>
            </a:xfrm>
            <a:custGeom>
              <a:avLst/>
              <a:gdLst/>
              <a:ahLst/>
              <a:cxnLst/>
              <a:rect r="r" b="b" t="t" l="l"/>
              <a:pathLst>
                <a:path h="3685794" w="10091674">
                  <a:moveTo>
                    <a:pt x="0" y="184277"/>
                  </a:moveTo>
                  <a:cubicBezTo>
                    <a:pt x="0" y="82550"/>
                    <a:pt x="82550" y="0"/>
                    <a:pt x="184277" y="0"/>
                  </a:cubicBezTo>
                  <a:lnTo>
                    <a:pt x="9907397" y="0"/>
                  </a:lnTo>
                  <a:cubicBezTo>
                    <a:pt x="10009124" y="0"/>
                    <a:pt x="10091674" y="82550"/>
                    <a:pt x="10091674" y="184277"/>
                  </a:cubicBezTo>
                  <a:lnTo>
                    <a:pt x="10091674" y="3501517"/>
                  </a:lnTo>
                  <a:cubicBezTo>
                    <a:pt x="10091674" y="3603244"/>
                    <a:pt x="10009124" y="3685794"/>
                    <a:pt x="9907397" y="3685794"/>
                  </a:cubicBezTo>
                  <a:lnTo>
                    <a:pt x="184277" y="3685794"/>
                  </a:lnTo>
                  <a:cubicBezTo>
                    <a:pt x="82550" y="3685921"/>
                    <a:pt x="0" y="3603371"/>
                    <a:pt x="0" y="3501644"/>
                  </a:cubicBezTo>
                  <a:close/>
                </a:path>
              </a:pathLst>
            </a:custGeom>
            <a:solidFill>
              <a:srgbClr val="111622"/>
            </a:solidFill>
            <a:ln w="19065" cap="sq">
              <a:solidFill>
                <a:srgbClr val="00F0C8"/>
              </a:solidFill>
              <a:prstDash val="solid"/>
              <a:miter/>
            </a:ln>
          </p:spPr>
        </p:sp>
      </p:grpSp>
      <p:sp>
        <p:nvSpPr>
          <p:cNvPr name="TextBox 17" id="17"/>
          <p:cNvSpPr txBox="true"/>
          <p:nvPr/>
        </p:nvSpPr>
        <p:spPr>
          <a:xfrm rot="0">
            <a:off x="1464116" y="6733718"/>
            <a:ext cx="3935139" cy="427091"/>
          </a:xfrm>
          <a:prstGeom prst="rect">
            <a:avLst/>
          </a:prstGeom>
        </p:spPr>
        <p:txBody>
          <a:bodyPr anchor="t" rtlCol="false" tIns="0" lIns="0" bIns="0" rIns="0">
            <a:spAutoFit/>
          </a:bodyPr>
          <a:lstStyle/>
          <a:p>
            <a:pPr algn="l">
              <a:lnSpc>
                <a:spcPts val="2882"/>
              </a:lnSpc>
            </a:pPr>
            <a:r>
              <a:rPr lang="en-US" sz="2401" b="true">
                <a:solidFill>
                  <a:srgbClr val="00F0C8"/>
                </a:solidFill>
                <a:latin typeface="Calibri (MS) Bold"/>
                <a:ea typeface="Calibri (MS) Bold"/>
                <a:cs typeface="Calibri (MS) Bold"/>
                <a:sym typeface="Calibri (MS) Bold"/>
              </a:rPr>
              <a:t>TEAM D43M0N$</a:t>
            </a:r>
          </a:p>
        </p:txBody>
      </p:sp>
      <p:sp>
        <p:nvSpPr>
          <p:cNvPr name="TextBox 18" id="18"/>
          <p:cNvSpPr txBox="true"/>
          <p:nvPr/>
        </p:nvSpPr>
        <p:spPr>
          <a:xfrm rot="0">
            <a:off x="1464116" y="7216111"/>
            <a:ext cx="6680483" cy="1935080"/>
          </a:xfrm>
          <a:prstGeom prst="rect">
            <a:avLst/>
          </a:prstGeom>
        </p:spPr>
        <p:txBody>
          <a:bodyPr anchor="t" rtlCol="false" tIns="0" lIns="0" bIns="0" rIns="0">
            <a:spAutoFit/>
          </a:bodyPr>
          <a:lstStyle/>
          <a:p>
            <a:pPr algn="l">
              <a:lnSpc>
                <a:spcPts val="2774"/>
              </a:lnSpc>
            </a:pPr>
            <a:r>
              <a:rPr lang="en-US" sz="1651" b="true">
                <a:solidFill>
                  <a:srgbClr val="00F0C8"/>
                </a:solidFill>
                <a:latin typeface="Calibri (MS) Bold"/>
                <a:ea typeface="Calibri (MS) Bold"/>
                <a:cs typeface="Calibri (MS) Bold"/>
                <a:sym typeface="Calibri (MS) Bold"/>
              </a:rPr>
              <a:t>▸ </a:t>
            </a:r>
            <a:r>
              <a:rPr lang="en-US" sz="1651">
                <a:solidFill>
                  <a:srgbClr val="99A0B0"/>
                </a:solidFill>
                <a:latin typeface="Calibri (MS)"/>
                <a:ea typeface="Calibri (MS)"/>
                <a:cs typeface="Calibri (MS)"/>
                <a:sym typeface="Calibri (MS)"/>
              </a:rPr>
              <a:t>Aastik Tripathi          26BCY10090</a:t>
            </a:r>
          </a:p>
          <a:p>
            <a:pPr algn="l">
              <a:lnSpc>
                <a:spcPts val="2774"/>
              </a:lnSpc>
            </a:pPr>
            <a:r>
              <a:rPr lang="en-US" sz="1651" b="true">
                <a:solidFill>
                  <a:srgbClr val="00F0C8"/>
                </a:solidFill>
                <a:latin typeface="Calibri (MS) Bold"/>
                <a:ea typeface="Calibri (MS) Bold"/>
                <a:cs typeface="Calibri (MS) Bold"/>
                <a:sym typeface="Calibri (MS) Bold"/>
              </a:rPr>
              <a:t>▸ </a:t>
            </a:r>
            <a:r>
              <a:rPr lang="en-US" sz="1651">
                <a:solidFill>
                  <a:srgbClr val="99A0B0"/>
                </a:solidFill>
                <a:latin typeface="Calibri (MS)"/>
                <a:ea typeface="Calibri (MS)"/>
                <a:cs typeface="Calibri (MS)"/>
                <a:sym typeface="Calibri (MS)"/>
              </a:rPr>
              <a:t>Palak Kalra                  26BCY10001</a:t>
            </a:r>
          </a:p>
          <a:p>
            <a:pPr algn="l">
              <a:lnSpc>
                <a:spcPts val="2774"/>
              </a:lnSpc>
            </a:pPr>
            <a:r>
              <a:rPr lang="en-US" sz="1651" b="true">
                <a:solidFill>
                  <a:srgbClr val="00F0C8"/>
                </a:solidFill>
                <a:latin typeface="Calibri (MS) Bold"/>
                <a:ea typeface="Calibri (MS) Bold"/>
                <a:cs typeface="Calibri (MS) Bold"/>
                <a:sym typeface="Calibri (MS) Bold"/>
              </a:rPr>
              <a:t>▸ </a:t>
            </a:r>
            <a:r>
              <a:rPr lang="en-US" sz="1651">
                <a:solidFill>
                  <a:srgbClr val="99A0B0"/>
                </a:solidFill>
                <a:latin typeface="Calibri (MS)"/>
                <a:ea typeface="Calibri (MS)"/>
                <a:cs typeface="Calibri (MS)"/>
                <a:sym typeface="Calibri (MS)"/>
              </a:rPr>
              <a:t>Yash Raj Kushwaha     26BCE10122</a:t>
            </a:r>
          </a:p>
          <a:p>
            <a:pPr algn="l">
              <a:lnSpc>
                <a:spcPts val="2774"/>
              </a:lnSpc>
            </a:pPr>
            <a:r>
              <a:rPr lang="en-US" sz="1651" b="true">
                <a:solidFill>
                  <a:srgbClr val="00F0C8"/>
                </a:solidFill>
                <a:latin typeface="Calibri (MS) Bold"/>
                <a:ea typeface="Calibri (MS) Bold"/>
                <a:cs typeface="Calibri (MS) Bold"/>
                <a:sym typeface="Calibri (MS) Bold"/>
              </a:rPr>
              <a:t>▸ </a:t>
            </a:r>
            <a:r>
              <a:rPr lang="en-US" sz="1651">
                <a:solidFill>
                  <a:srgbClr val="99A0B0"/>
                </a:solidFill>
                <a:latin typeface="Calibri (MS)"/>
                <a:ea typeface="Calibri (MS)"/>
                <a:cs typeface="Calibri (MS)"/>
                <a:sym typeface="Calibri (MS)"/>
              </a:rPr>
              <a:t>Mangal Nath Yadav      26BHI10047</a:t>
            </a:r>
          </a:p>
        </p:txBody>
      </p:sp>
      <p:sp>
        <p:nvSpPr>
          <p:cNvPr name="TextBox 19" id="19"/>
          <p:cNvSpPr txBox="true"/>
          <p:nvPr/>
        </p:nvSpPr>
        <p:spPr>
          <a:xfrm rot="0">
            <a:off x="9700146" y="8527713"/>
            <a:ext cx="7366816" cy="623468"/>
          </a:xfrm>
          <a:prstGeom prst="rect">
            <a:avLst/>
          </a:prstGeom>
        </p:spPr>
        <p:txBody>
          <a:bodyPr anchor="t" rtlCol="false" tIns="0" lIns="0" bIns="0" rIns="0">
            <a:spAutoFit/>
          </a:bodyPr>
          <a:lstStyle/>
          <a:p>
            <a:pPr algn="r">
              <a:lnSpc>
                <a:spcPts val="1981"/>
              </a:lnSpc>
            </a:pPr>
            <a:r>
              <a:rPr lang="en-US" sz="1651">
                <a:solidFill>
                  <a:srgbClr val="666E80"/>
                </a:solidFill>
                <a:latin typeface="Calibri (MS)"/>
                <a:ea typeface="Calibri (MS)"/>
                <a:cs typeface="Calibri (MS)"/>
                <a:sym typeface="Calibri (MS)"/>
              </a:rPr>
              <a:t>IEEE Student Branch · VIT Bhopal (STB11518)</a:t>
            </a:r>
          </a:p>
        </p:txBody>
      </p:sp>
      <p:grpSp>
        <p:nvGrpSpPr>
          <p:cNvPr name="Group 20" id="20"/>
          <p:cNvGrpSpPr/>
          <p:nvPr/>
        </p:nvGrpSpPr>
        <p:grpSpPr>
          <a:xfrm rot="0">
            <a:off x="0" y="10226411"/>
            <a:ext cx="18301840" cy="76257"/>
            <a:chOff x="0" y="0"/>
            <a:chExt cx="24402453" cy="101676"/>
          </a:xfrm>
        </p:grpSpPr>
        <p:sp>
          <p:nvSpPr>
            <p:cNvPr name="Freeform 21" id="21"/>
            <p:cNvSpPr/>
            <p:nvPr/>
          </p:nvSpPr>
          <p:spPr>
            <a:xfrm flipH="false" flipV="false" rot="0">
              <a:off x="0" y="0"/>
              <a:ext cx="24402414" cy="101727"/>
            </a:xfrm>
            <a:custGeom>
              <a:avLst/>
              <a:gdLst/>
              <a:ahLst/>
              <a:cxnLst/>
              <a:rect r="r" b="b" t="t" l="l"/>
              <a:pathLst>
                <a:path h="101727" w="24402414">
                  <a:moveTo>
                    <a:pt x="0" y="0"/>
                  </a:moveTo>
                  <a:lnTo>
                    <a:pt x="24402414" y="0"/>
                  </a:lnTo>
                  <a:lnTo>
                    <a:pt x="24402414" y="101727"/>
                  </a:lnTo>
                  <a:lnTo>
                    <a:pt x="0" y="101727"/>
                  </a:lnTo>
                  <a:close/>
                </a:path>
              </a:pathLst>
            </a:custGeom>
            <a:solidFill>
              <a:srgbClr val="00F0C8"/>
            </a:solid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grpSp>
        <p:nvGrpSpPr>
          <p:cNvPr name="Group 4" id="4"/>
          <p:cNvGrpSpPr/>
          <p:nvPr/>
        </p:nvGrpSpPr>
        <p:grpSpPr>
          <a:xfrm rot="0">
            <a:off x="823608" y="549069"/>
            <a:ext cx="1400127" cy="411804"/>
            <a:chOff x="0" y="0"/>
            <a:chExt cx="1866836" cy="549072"/>
          </a:xfrm>
        </p:grpSpPr>
        <p:sp>
          <p:nvSpPr>
            <p:cNvPr name="Freeform 5" id="5"/>
            <p:cNvSpPr/>
            <p:nvPr/>
          </p:nvSpPr>
          <p:spPr>
            <a:xfrm flipH="false" flipV="false" rot="0">
              <a:off x="0" y="0"/>
              <a:ext cx="1866900" cy="549148"/>
            </a:xfrm>
            <a:custGeom>
              <a:avLst/>
              <a:gdLst/>
              <a:ahLst/>
              <a:cxnLst/>
              <a:rect r="r" b="b" t="t" l="l"/>
              <a:pathLst>
                <a:path h="549148" w="1866900">
                  <a:moveTo>
                    <a:pt x="0" y="274574"/>
                  </a:moveTo>
                  <a:cubicBezTo>
                    <a:pt x="0" y="122936"/>
                    <a:pt x="122936" y="0"/>
                    <a:pt x="274574" y="0"/>
                  </a:cubicBezTo>
                  <a:lnTo>
                    <a:pt x="1592326" y="0"/>
                  </a:lnTo>
                  <a:cubicBezTo>
                    <a:pt x="1743964" y="0"/>
                    <a:pt x="1866900" y="122936"/>
                    <a:pt x="1866900" y="274574"/>
                  </a:cubicBezTo>
                  <a:cubicBezTo>
                    <a:pt x="1866900" y="426212"/>
                    <a:pt x="1743964" y="549148"/>
                    <a:pt x="1592326" y="549148"/>
                  </a:cubicBezTo>
                  <a:lnTo>
                    <a:pt x="274574" y="549148"/>
                  </a:lnTo>
                  <a:cubicBezTo>
                    <a:pt x="122936" y="549021"/>
                    <a:pt x="0" y="426212"/>
                    <a:pt x="0" y="274574"/>
                  </a:cubicBezTo>
                  <a:close/>
                </a:path>
              </a:pathLst>
            </a:custGeom>
            <a:solidFill>
              <a:srgbClr val="333D55"/>
            </a:solidFill>
          </p:spPr>
        </p:sp>
        <p:sp>
          <p:nvSpPr>
            <p:cNvPr name="TextBox 6" id="6"/>
            <p:cNvSpPr txBox="true"/>
            <p:nvPr/>
          </p:nvSpPr>
          <p:spPr>
            <a:xfrm>
              <a:off x="0" y="-28575"/>
              <a:ext cx="1866836" cy="577647"/>
            </a:xfrm>
            <a:prstGeom prst="rect">
              <a:avLst/>
            </a:prstGeom>
          </p:spPr>
          <p:txBody>
            <a:bodyPr anchor="ctr" rtlCol="false" tIns="50800" lIns="50800" bIns="50800" rIns="50800"/>
            <a:lstStyle/>
            <a:p>
              <a:pPr algn="ctr">
                <a:lnSpc>
                  <a:spcPts val="1621"/>
                </a:lnSpc>
              </a:pPr>
              <a:r>
                <a:rPr lang="en-US" sz="1351" b="true">
                  <a:solidFill>
                    <a:srgbClr val="99A0B0"/>
                  </a:solidFill>
                  <a:latin typeface="Calibri (MS) Bold"/>
                  <a:ea typeface="Calibri (MS) Bold"/>
                  <a:cs typeface="Calibri (MS) Bold"/>
                  <a:sym typeface="Calibri (MS) Bold"/>
                </a:rPr>
                <a:t>SLIDE 02</a:t>
              </a:r>
            </a:p>
          </p:txBody>
        </p:sp>
      </p:grpSp>
      <p:sp>
        <p:nvSpPr>
          <p:cNvPr name="TextBox 7" id="7"/>
          <p:cNvSpPr txBox="true"/>
          <p:nvPr/>
        </p:nvSpPr>
        <p:spPr>
          <a:xfrm rot="0">
            <a:off x="915048" y="989495"/>
            <a:ext cx="10798502" cy="817893"/>
          </a:xfrm>
          <a:prstGeom prst="rect">
            <a:avLst/>
          </a:prstGeom>
        </p:spPr>
        <p:txBody>
          <a:bodyPr anchor="t" rtlCol="false" tIns="0" lIns="0" bIns="0" rIns="0">
            <a:spAutoFit/>
          </a:bodyPr>
          <a:lstStyle/>
          <a:p>
            <a:pPr algn="l">
              <a:lnSpc>
                <a:spcPts val="5764"/>
              </a:lnSpc>
            </a:pPr>
            <a:r>
              <a:rPr lang="en-US" sz="4803" b="true">
                <a:solidFill>
                  <a:srgbClr val="EEEEF0"/>
                </a:solidFill>
                <a:latin typeface="Calibri (MS) Bold"/>
                <a:ea typeface="Calibri (MS) Bold"/>
                <a:cs typeface="Calibri (MS) Bold"/>
                <a:sym typeface="Calibri (MS) Bold"/>
              </a:rPr>
              <a:t>Problem &amp; Core Idea</a:t>
            </a:r>
          </a:p>
        </p:txBody>
      </p:sp>
      <p:grpSp>
        <p:nvGrpSpPr>
          <p:cNvPr name="Group 8" id="8"/>
          <p:cNvGrpSpPr/>
          <p:nvPr/>
        </p:nvGrpSpPr>
        <p:grpSpPr>
          <a:xfrm rot="0">
            <a:off x="823608" y="1853108"/>
            <a:ext cx="3431677" cy="38129"/>
            <a:chOff x="0" y="0"/>
            <a:chExt cx="4575569" cy="50838"/>
          </a:xfrm>
        </p:grpSpPr>
        <p:sp>
          <p:nvSpPr>
            <p:cNvPr name="Freeform 9" id="9"/>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sp>
        <p:nvSpPr>
          <p:cNvPr name="TextBox 10" id="10"/>
          <p:cNvSpPr txBox="true"/>
          <p:nvPr/>
        </p:nvSpPr>
        <p:spPr>
          <a:xfrm rot="0">
            <a:off x="915048" y="2341159"/>
            <a:ext cx="7366816" cy="495729"/>
          </a:xfrm>
          <a:prstGeom prst="rect">
            <a:avLst/>
          </a:prstGeom>
        </p:spPr>
        <p:txBody>
          <a:bodyPr anchor="t" rtlCol="false" tIns="0" lIns="0" bIns="0" rIns="0">
            <a:spAutoFit/>
          </a:bodyPr>
          <a:lstStyle/>
          <a:p>
            <a:pPr algn="l">
              <a:lnSpc>
                <a:spcPts val="2882"/>
              </a:lnSpc>
            </a:pPr>
            <a:r>
              <a:rPr lang="en-US" sz="2401" b="true">
                <a:solidFill>
                  <a:srgbClr val="FF3B5C"/>
                </a:solidFill>
                <a:latin typeface="Calibri (MS) Bold"/>
                <a:ea typeface="Calibri (MS) Bold"/>
                <a:cs typeface="Calibri (MS) Bold"/>
                <a:sym typeface="Calibri (MS) Bold"/>
              </a:rPr>
              <a:t>⚠  THE PROBLEM</a:t>
            </a:r>
          </a:p>
        </p:txBody>
      </p:sp>
      <p:sp>
        <p:nvSpPr>
          <p:cNvPr name="TextBox 11" id="11"/>
          <p:cNvSpPr txBox="true"/>
          <p:nvPr/>
        </p:nvSpPr>
        <p:spPr>
          <a:xfrm rot="0">
            <a:off x="915048" y="2863615"/>
            <a:ext cx="7778620" cy="3885390"/>
          </a:xfrm>
          <a:prstGeom prst="rect">
            <a:avLst/>
          </a:prstGeom>
        </p:spPr>
        <p:txBody>
          <a:bodyPr anchor="t" rtlCol="false" tIns="0" lIns="0" bIns="0" rIns="0">
            <a:spAutoFit/>
          </a:bodyPr>
          <a:lstStyle/>
          <a:p>
            <a:pPr algn="l">
              <a:lnSpc>
                <a:spcPts val="3134"/>
              </a:lnSpc>
            </a:pPr>
            <a:r>
              <a:rPr lang="en-US" sz="1801" b="true">
                <a:solidFill>
                  <a:srgbClr val="FF3B5C"/>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India saw 10,000+ UPI fraud complaints daily in 2025 — most via phishing links &amp; QR codes</a:t>
            </a:r>
          </a:p>
          <a:p>
            <a:pPr algn="l">
              <a:lnSpc>
                <a:spcPts val="3134"/>
              </a:lnSpc>
            </a:pPr>
            <a:r>
              <a:rPr lang="en-US" sz="1801" b="true">
                <a:solidFill>
                  <a:srgbClr val="FF3B5C"/>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Attackers distribute fake KYC portals, utility bill pages, and bank login clones via SMS &amp; WhatsApp</a:t>
            </a:r>
          </a:p>
          <a:p>
            <a:pPr algn="l">
              <a:lnSpc>
                <a:spcPts val="3134"/>
              </a:lnSpc>
            </a:pPr>
            <a:r>
              <a:rPr lang="en-US" sz="1801" b="true">
                <a:solidFill>
                  <a:srgbClr val="FF3B5C"/>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Victims click under time pressure ('Your account will be blocked in 24 hours!')</a:t>
            </a:r>
          </a:p>
          <a:p>
            <a:pPr algn="l">
              <a:lnSpc>
                <a:spcPts val="3134"/>
              </a:lnSpc>
            </a:pPr>
            <a:r>
              <a:rPr lang="en-US" sz="1801" b="true">
                <a:solidFill>
                  <a:srgbClr val="FF3B5C"/>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Existing tools react after the damage; no real-time, user-facing pre-click defense</a:t>
            </a:r>
          </a:p>
          <a:p>
            <a:pPr algn="l">
              <a:lnSpc>
                <a:spcPts val="3134"/>
              </a:lnSpc>
            </a:pPr>
            <a:r>
              <a:rPr lang="en-US" sz="1801" b="true">
                <a:solidFill>
                  <a:srgbClr val="FF3B5C"/>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Language barriers: scams operate in Hindi, English, and regional mixes — evading English-only filters</a:t>
            </a:r>
          </a:p>
        </p:txBody>
      </p:sp>
      <p:sp>
        <p:nvSpPr>
          <p:cNvPr name="TextBox 12" id="12"/>
          <p:cNvSpPr txBox="true"/>
          <p:nvPr/>
        </p:nvSpPr>
        <p:spPr>
          <a:xfrm rot="0">
            <a:off x="9700146" y="2341159"/>
            <a:ext cx="7366816" cy="495729"/>
          </a:xfrm>
          <a:prstGeom prst="rect">
            <a:avLst/>
          </a:prstGeom>
        </p:spPr>
        <p:txBody>
          <a:bodyPr anchor="t" rtlCol="false" tIns="0" lIns="0" bIns="0" rIns="0">
            <a:spAutoFit/>
          </a:bodyPr>
          <a:lstStyle/>
          <a:p>
            <a:pPr algn="l">
              <a:lnSpc>
                <a:spcPts val="2882"/>
              </a:lnSpc>
            </a:pPr>
            <a:r>
              <a:rPr lang="en-US" sz="2401" b="true">
                <a:solidFill>
                  <a:srgbClr val="00E676"/>
                </a:solidFill>
                <a:latin typeface="Calibri (MS) Bold"/>
                <a:ea typeface="Calibri (MS) Bold"/>
                <a:cs typeface="Calibri (MS) Bold"/>
                <a:sym typeface="Calibri (MS) Bold"/>
              </a:rPr>
              <a:t>💡  OUR SOLUTION — ScamShield AI</a:t>
            </a:r>
          </a:p>
        </p:txBody>
      </p:sp>
      <p:sp>
        <p:nvSpPr>
          <p:cNvPr name="TextBox 13" id="13"/>
          <p:cNvSpPr txBox="true"/>
          <p:nvPr/>
        </p:nvSpPr>
        <p:spPr>
          <a:xfrm rot="0">
            <a:off x="9700146" y="2863615"/>
            <a:ext cx="7778620" cy="4434459"/>
          </a:xfrm>
          <a:prstGeom prst="rect">
            <a:avLst/>
          </a:prstGeom>
        </p:spPr>
        <p:txBody>
          <a:bodyPr anchor="t" rtlCol="false" tIns="0" lIns="0" bIns="0" rIns="0">
            <a:spAutoFit/>
          </a:bodyPr>
          <a:lstStyle/>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A web-based tool where users paste suspicious URLs or upload QR codes for instant threat analysis</a:t>
            </a:r>
          </a:p>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Multi-layer analysis: Domain age, SSL checks, URL pattern matching + Google Safe Browsing API</a:t>
            </a:r>
          </a:p>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AI-powered NLP engine analyzes the surrounding message text for urgency, impersonation &amp; scam patterns</a:t>
            </a:r>
          </a:p>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Supports Hindi + English messages — detects mixed-language social engineering</a:t>
            </a:r>
          </a:p>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Visual risk report with color-coded threat score + plain-English 'Why this is suspicious' breakdown</a:t>
            </a:r>
          </a:p>
          <a:p>
            <a:pPr algn="l">
              <a:lnSpc>
                <a:spcPts val="3134"/>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Zero-trust philosophy: Every link is guilty until proven innocent</a:t>
            </a:r>
          </a:p>
        </p:txBody>
      </p:sp>
      <p:grpSp>
        <p:nvGrpSpPr>
          <p:cNvPr name="Group 14" id="14"/>
          <p:cNvGrpSpPr/>
          <p:nvPr/>
        </p:nvGrpSpPr>
        <p:grpSpPr>
          <a:xfrm rot="0">
            <a:off x="8991000" y="2333539"/>
            <a:ext cx="38129" cy="4804353"/>
            <a:chOff x="0" y="0"/>
            <a:chExt cx="50838" cy="6405804"/>
          </a:xfrm>
        </p:grpSpPr>
        <p:sp>
          <p:nvSpPr>
            <p:cNvPr name="Freeform 15" id="15"/>
            <p:cNvSpPr/>
            <p:nvPr/>
          </p:nvSpPr>
          <p:spPr>
            <a:xfrm flipH="false" flipV="false" rot="0">
              <a:off x="0" y="0"/>
              <a:ext cx="50800" cy="6405753"/>
            </a:xfrm>
            <a:custGeom>
              <a:avLst/>
              <a:gdLst/>
              <a:ahLst/>
              <a:cxnLst/>
              <a:rect r="r" b="b" t="t" l="l"/>
              <a:pathLst>
                <a:path h="6405753" w="50800">
                  <a:moveTo>
                    <a:pt x="0" y="0"/>
                  </a:moveTo>
                  <a:lnTo>
                    <a:pt x="50800" y="0"/>
                  </a:lnTo>
                  <a:lnTo>
                    <a:pt x="50800" y="6405753"/>
                  </a:lnTo>
                  <a:lnTo>
                    <a:pt x="0" y="6405753"/>
                  </a:lnTo>
                  <a:close/>
                </a:path>
              </a:pathLst>
            </a:custGeom>
            <a:solidFill>
              <a:srgbClr val="222A3A"/>
            </a:solidFill>
          </p:spPr>
        </p:sp>
      </p:grpSp>
      <p:grpSp>
        <p:nvGrpSpPr>
          <p:cNvPr name="Group 16" id="16"/>
          <p:cNvGrpSpPr/>
          <p:nvPr/>
        </p:nvGrpSpPr>
        <p:grpSpPr>
          <a:xfrm rot="0">
            <a:off x="814073" y="7402897"/>
            <a:ext cx="16216598" cy="2078069"/>
            <a:chOff x="0" y="0"/>
            <a:chExt cx="21622131" cy="2770759"/>
          </a:xfrm>
        </p:grpSpPr>
        <p:sp>
          <p:nvSpPr>
            <p:cNvPr name="Freeform 17" id="17"/>
            <p:cNvSpPr/>
            <p:nvPr/>
          </p:nvSpPr>
          <p:spPr>
            <a:xfrm flipH="false" flipV="false" rot="0">
              <a:off x="0" y="0"/>
              <a:ext cx="21622131" cy="2770759"/>
            </a:xfrm>
            <a:custGeom>
              <a:avLst/>
              <a:gdLst/>
              <a:ahLst/>
              <a:cxnLst/>
              <a:rect r="r" b="b" t="t" l="l"/>
              <a:pathLst>
                <a:path h="2770759" w="21622131">
                  <a:moveTo>
                    <a:pt x="0" y="138557"/>
                  </a:moveTo>
                  <a:cubicBezTo>
                    <a:pt x="0" y="61976"/>
                    <a:pt x="61976" y="0"/>
                    <a:pt x="138557" y="0"/>
                  </a:cubicBezTo>
                  <a:lnTo>
                    <a:pt x="21483574" y="0"/>
                  </a:lnTo>
                  <a:cubicBezTo>
                    <a:pt x="21560028" y="0"/>
                    <a:pt x="21622131" y="61976"/>
                    <a:pt x="21622131" y="138557"/>
                  </a:cubicBezTo>
                  <a:lnTo>
                    <a:pt x="21622131" y="2632202"/>
                  </a:lnTo>
                  <a:cubicBezTo>
                    <a:pt x="21622131" y="2708656"/>
                    <a:pt x="21560155" y="2770759"/>
                    <a:pt x="21483574" y="2770759"/>
                  </a:cubicBezTo>
                  <a:lnTo>
                    <a:pt x="138557" y="2770759"/>
                  </a:lnTo>
                  <a:cubicBezTo>
                    <a:pt x="61976" y="2770759"/>
                    <a:pt x="0" y="2708783"/>
                    <a:pt x="0" y="2632202"/>
                  </a:cubicBezTo>
                  <a:close/>
                </a:path>
              </a:pathLst>
            </a:custGeom>
            <a:solidFill>
              <a:srgbClr val="111622"/>
            </a:solidFill>
            <a:ln w="19065" cap="sq">
              <a:solidFill>
                <a:srgbClr val="00F0C8"/>
              </a:solidFill>
              <a:prstDash val="solid"/>
              <a:miter/>
            </a:ln>
          </p:spPr>
        </p:sp>
      </p:grpSp>
      <p:sp>
        <p:nvSpPr>
          <p:cNvPr name="TextBox 18" id="18"/>
          <p:cNvSpPr txBox="true"/>
          <p:nvPr/>
        </p:nvSpPr>
        <p:spPr>
          <a:xfrm rot="0">
            <a:off x="1326842" y="7547791"/>
            <a:ext cx="14916512" cy="505254"/>
          </a:xfrm>
          <a:prstGeom prst="rect">
            <a:avLst/>
          </a:prstGeom>
        </p:spPr>
        <p:txBody>
          <a:bodyPr anchor="t" rtlCol="false" tIns="0" lIns="0" bIns="0" rIns="0">
            <a:spAutoFit/>
          </a:bodyPr>
          <a:lstStyle/>
          <a:p>
            <a:pPr algn="l">
              <a:lnSpc>
                <a:spcPts val="2521"/>
              </a:lnSpc>
            </a:pPr>
            <a:r>
              <a:rPr lang="en-US" sz="2101" b="true">
                <a:solidFill>
                  <a:srgbClr val="00F0C8"/>
                </a:solidFill>
                <a:latin typeface="Calibri (MS) Bold"/>
                <a:ea typeface="Calibri (MS) Bold"/>
                <a:cs typeface="Calibri (MS) Bold"/>
                <a:sym typeface="Calibri (MS) Bold"/>
              </a:rPr>
              <a:t>WHO IS IT FOR?</a:t>
            </a:r>
          </a:p>
        </p:txBody>
      </p:sp>
      <p:sp>
        <p:nvSpPr>
          <p:cNvPr name="TextBox 19" id="19"/>
          <p:cNvSpPr txBox="true"/>
          <p:nvPr/>
        </p:nvSpPr>
        <p:spPr>
          <a:xfrm rot="0">
            <a:off x="1326842" y="8175022"/>
            <a:ext cx="14916512" cy="1044797"/>
          </a:xfrm>
          <a:prstGeom prst="rect">
            <a:avLst/>
          </a:prstGeom>
        </p:spPr>
        <p:txBody>
          <a:bodyPr anchor="t" rtlCol="false" tIns="0" lIns="0" bIns="0" rIns="0">
            <a:spAutoFit/>
          </a:bodyPr>
          <a:lstStyle/>
          <a:p>
            <a:pPr algn="l">
              <a:lnSpc>
                <a:spcPts val="2161"/>
              </a:lnSpc>
            </a:pPr>
            <a:r>
              <a:rPr lang="en-US" sz="1801">
                <a:solidFill>
                  <a:srgbClr val="99A0B0"/>
                </a:solidFill>
                <a:latin typeface="Calibri (MS)"/>
                <a:ea typeface="Calibri (MS)"/>
                <a:cs typeface="Calibri (MS)"/>
                <a:sym typeface="Calibri (MS)"/>
              </a:rPr>
              <a:t>Any Indian digital payment user who receives suspicious links via SMS, WhatsApp, email, or social media. Particularly targets non-technical users, senior citizens, and first-time UPI adopters who are most vulnerable to social engineering attacks. Secondary audience: cybersecurity awareness trainers and banks building customer education tools.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grpSp>
        <p:nvGrpSpPr>
          <p:cNvPr name="Group 4" id="4"/>
          <p:cNvGrpSpPr/>
          <p:nvPr/>
        </p:nvGrpSpPr>
        <p:grpSpPr>
          <a:xfrm rot="0">
            <a:off x="823608" y="549069"/>
            <a:ext cx="1400127" cy="411804"/>
            <a:chOff x="0" y="0"/>
            <a:chExt cx="1866836" cy="549072"/>
          </a:xfrm>
        </p:grpSpPr>
        <p:sp>
          <p:nvSpPr>
            <p:cNvPr name="Freeform 5" id="5"/>
            <p:cNvSpPr/>
            <p:nvPr/>
          </p:nvSpPr>
          <p:spPr>
            <a:xfrm flipH="false" flipV="false" rot="0">
              <a:off x="0" y="0"/>
              <a:ext cx="1866900" cy="549148"/>
            </a:xfrm>
            <a:custGeom>
              <a:avLst/>
              <a:gdLst/>
              <a:ahLst/>
              <a:cxnLst/>
              <a:rect r="r" b="b" t="t" l="l"/>
              <a:pathLst>
                <a:path h="549148" w="1866900">
                  <a:moveTo>
                    <a:pt x="0" y="274574"/>
                  </a:moveTo>
                  <a:cubicBezTo>
                    <a:pt x="0" y="122936"/>
                    <a:pt x="122936" y="0"/>
                    <a:pt x="274574" y="0"/>
                  </a:cubicBezTo>
                  <a:lnTo>
                    <a:pt x="1592326" y="0"/>
                  </a:lnTo>
                  <a:cubicBezTo>
                    <a:pt x="1743964" y="0"/>
                    <a:pt x="1866900" y="122936"/>
                    <a:pt x="1866900" y="274574"/>
                  </a:cubicBezTo>
                  <a:cubicBezTo>
                    <a:pt x="1866900" y="426212"/>
                    <a:pt x="1743964" y="549148"/>
                    <a:pt x="1592326" y="549148"/>
                  </a:cubicBezTo>
                  <a:lnTo>
                    <a:pt x="274574" y="549148"/>
                  </a:lnTo>
                  <a:cubicBezTo>
                    <a:pt x="122936" y="549021"/>
                    <a:pt x="0" y="426212"/>
                    <a:pt x="0" y="274574"/>
                  </a:cubicBezTo>
                  <a:close/>
                </a:path>
              </a:pathLst>
            </a:custGeom>
            <a:solidFill>
              <a:srgbClr val="333D55"/>
            </a:solidFill>
          </p:spPr>
        </p:sp>
        <p:sp>
          <p:nvSpPr>
            <p:cNvPr name="TextBox 6" id="6"/>
            <p:cNvSpPr txBox="true"/>
            <p:nvPr/>
          </p:nvSpPr>
          <p:spPr>
            <a:xfrm>
              <a:off x="0" y="-28575"/>
              <a:ext cx="1866836" cy="577647"/>
            </a:xfrm>
            <a:prstGeom prst="rect">
              <a:avLst/>
            </a:prstGeom>
          </p:spPr>
          <p:txBody>
            <a:bodyPr anchor="ctr" rtlCol="false" tIns="50800" lIns="50800" bIns="50800" rIns="50800"/>
            <a:lstStyle/>
            <a:p>
              <a:pPr algn="ctr">
                <a:lnSpc>
                  <a:spcPts val="1621"/>
                </a:lnSpc>
              </a:pPr>
              <a:r>
                <a:rPr lang="en-US" sz="1351" b="true">
                  <a:solidFill>
                    <a:srgbClr val="99A0B0"/>
                  </a:solidFill>
                  <a:latin typeface="Calibri (MS) Bold"/>
                  <a:ea typeface="Calibri (MS) Bold"/>
                  <a:cs typeface="Calibri (MS) Bold"/>
                  <a:sym typeface="Calibri (MS) Bold"/>
                </a:rPr>
                <a:t>SLIDE 03</a:t>
              </a:r>
            </a:p>
          </p:txBody>
        </p:sp>
      </p:grpSp>
      <p:sp>
        <p:nvSpPr>
          <p:cNvPr name="TextBox 7" id="7"/>
          <p:cNvSpPr txBox="true"/>
          <p:nvPr/>
        </p:nvSpPr>
        <p:spPr>
          <a:xfrm rot="0">
            <a:off x="915048" y="989495"/>
            <a:ext cx="10798502" cy="817893"/>
          </a:xfrm>
          <a:prstGeom prst="rect">
            <a:avLst/>
          </a:prstGeom>
        </p:spPr>
        <p:txBody>
          <a:bodyPr anchor="t" rtlCol="false" tIns="0" lIns="0" bIns="0" rIns="0">
            <a:spAutoFit/>
          </a:bodyPr>
          <a:lstStyle/>
          <a:p>
            <a:pPr algn="l">
              <a:lnSpc>
                <a:spcPts val="5764"/>
              </a:lnSpc>
            </a:pPr>
            <a:r>
              <a:rPr lang="en-US" sz="4803" b="true">
                <a:solidFill>
                  <a:srgbClr val="EEEEF0"/>
                </a:solidFill>
                <a:latin typeface="Calibri (MS) Bold"/>
                <a:ea typeface="Calibri (MS) Bold"/>
                <a:cs typeface="Calibri (MS) Bold"/>
                <a:sym typeface="Calibri (MS) Bold"/>
              </a:rPr>
              <a:t>Attack Progression — How The Scam Works</a:t>
            </a:r>
          </a:p>
        </p:txBody>
      </p:sp>
      <p:grpSp>
        <p:nvGrpSpPr>
          <p:cNvPr name="Group 8" id="8"/>
          <p:cNvGrpSpPr/>
          <p:nvPr/>
        </p:nvGrpSpPr>
        <p:grpSpPr>
          <a:xfrm rot="0">
            <a:off x="823608" y="1853108"/>
            <a:ext cx="3431677" cy="38129"/>
            <a:chOff x="0" y="0"/>
            <a:chExt cx="4575569" cy="50838"/>
          </a:xfrm>
        </p:grpSpPr>
        <p:sp>
          <p:nvSpPr>
            <p:cNvPr name="Freeform 9" id="9"/>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grpSp>
        <p:nvGrpSpPr>
          <p:cNvPr name="Group 10" id="10"/>
          <p:cNvGrpSpPr/>
          <p:nvPr/>
        </p:nvGrpSpPr>
        <p:grpSpPr>
          <a:xfrm rot="0">
            <a:off x="814073" y="2461279"/>
            <a:ext cx="3862549" cy="3313481"/>
            <a:chOff x="0" y="0"/>
            <a:chExt cx="5150066" cy="4417974"/>
          </a:xfrm>
        </p:grpSpPr>
        <p:sp>
          <p:nvSpPr>
            <p:cNvPr name="Freeform 11" id="11"/>
            <p:cNvSpPr/>
            <p:nvPr/>
          </p:nvSpPr>
          <p:spPr>
            <a:xfrm flipH="false" flipV="false" rot="0">
              <a:off x="0" y="0"/>
              <a:ext cx="5149977" cy="4417949"/>
            </a:xfrm>
            <a:custGeom>
              <a:avLst/>
              <a:gdLst/>
              <a:ahLst/>
              <a:cxnLst/>
              <a:rect r="r" b="b" t="t" l="l"/>
              <a:pathLst>
                <a:path h="4417949" w="5149977">
                  <a:moveTo>
                    <a:pt x="0" y="220853"/>
                  </a:moveTo>
                  <a:cubicBezTo>
                    <a:pt x="0" y="98933"/>
                    <a:pt x="98933" y="0"/>
                    <a:pt x="220853" y="0"/>
                  </a:cubicBezTo>
                  <a:lnTo>
                    <a:pt x="4929124" y="0"/>
                  </a:lnTo>
                  <a:cubicBezTo>
                    <a:pt x="5051171" y="0"/>
                    <a:pt x="5149977" y="98933"/>
                    <a:pt x="5149977" y="220853"/>
                  </a:cubicBezTo>
                  <a:lnTo>
                    <a:pt x="5149977" y="4197096"/>
                  </a:lnTo>
                  <a:cubicBezTo>
                    <a:pt x="5149977" y="4319143"/>
                    <a:pt x="5051044" y="4417949"/>
                    <a:pt x="4929124" y="4417949"/>
                  </a:cubicBezTo>
                  <a:lnTo>
                    <a:pt x="220853" y="4417949"/>
                  </a:lnTo>
                  <a:cubicBezTo>
                    <a:pt x="98933" y="4417949"/>
                    <a:pt x="0" y="4319016"/>
                    <a:pt x="0" y="4197096"/>
                  </a:cubicBezTo>
                  <a:close/>
                </a:path>
              </a:pathLst>
            </a:custGeom>
            <a:solidFill>
              <a:srgbClr val="111622"/>
            </a:solidFill>
            <a:ln w="19065" cap="sq">
              <a:solidFill>
                <a:srgbClr val="FF3B5C"/>
              </a:solidFill>
              <a:prstDash val="solid"/>
              <a:miter/>
            </a:ln>
          </p:spPr>
        </p:sp>
      </p:grpSp>
      <p:grpSp>
        <p:nvGrpSpPr>
          <p:cNvPr name="Group 12" id="12"/>
          <p:cNvGrpSpPr/>
          <p:nvPr/>
        </p:nvGrpSpPr>
        <p:grpSpPr>
          <a:xfrm rot="0">
            <a:off x="1098137" y="2745343"/>
            <a:ext cx="617706" cy="617706"/>
            <a:chOff x="0" y="0"/>
            <a:chExt cx="823608" cy="823608"/>
          </a:xfrm>
        </p:grpSpPr>
        <p:sp>
          <p:nvSpPr>
            <p:cNvPr name="Freeform 13" id="13"/>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FF3B5C"/>
            </a:solidFill>
          </p:spPr>
        </p:sp>
        <p:sp>
          <p:nvSpPr>
            <p:cNvPr name="TextBox 14" id="14"/>
            <p:cNvSpPr txBox="true"/>
            <p:nvPr/>
          </p:nvSpPr>
          <p:spPr>
            <a:xfrm>
              <a:off x="0" y="-38100"/>
              <a:ext cx="823608" cy="861708"/>
            </a:xfrm>
            <a:prstGeom prst="rect">
              <a:avLst/>
            </a:prstGeom>
          </p:spPr>
          <p:txBody>
            <a:bodyPr anchor="ctr" rtlCol="false" tIns="50800" lIns="50800" bIns="50800" rIns="50800"/>
            <a:lstStyle/>
            <a:p>
              <a:pPr algn="ctr">
                <a:lnSpc>
                  <a:spcPts val="2882"/>
                </a:lnSpc>
              </a:pPr>
              <a:r>
                <a:rPr lang="en-US" sz="2401" b="true">
                  <a:solidFill>
                    <a:srgbClr val="0B0E17"/>
                  </a:solidFill>
                  <a:latin typeface="Calibri (MS) Bold"/>
                  <a:ea typeface="Calibri (MS) Bold"/>
                  <a:cs typeface="Calibri (MS) Bold"/>
                  <a:sym typeface="Calibri (MS) Bold"/>
                </a:rPr>
                <a:t>1</a:t>
              </a:r>
            </a:p>
          </p:txBody>
        </p:sp>
      </p:grpSp>
      <p:sp>
        <p:nvSpPr>
          <p:cNvPr name="TextBox 15" id="15"/>
          <p:cNvSpPr txBox="true"/>
          <p:nvPr/>
        </p:nvSpPr>
        <p:spPr>
          <a:xfrm rot="0">
            <a:off x="1944548" y="2665286"/>
            <a:ext cx="2356561" cy="514779"/>
          </a:xfrm>
          <a:prstGeom prst="rect">
            <a:avLst/>
          </a:prstGeom>
        </p:spPr>
        <p:txBody>
          <a:bodyPr anchor="t" rtlCol="false" tIns="0" lIns="0" bIns="0" rIns="0">
            <a:spAutoFit/>
          </a:bodyPr>
          <a:lstStyle/>
          <a:p>
            <a:pPr algn="l">
              <a:lnSpc>
                <a:spcPts val="2702"/>
              </a:lnSpc>
            </a:pPr>
            <a:r>
              <a:rPr lang="en-US" sz="2251" b="true">
                <a:solidFill>
                  <a:srgbClr val="EEEEF0"/>
                </a:solidFill>
                <a:latin typeface="Calibri (MS) Bold"/>
                <a:ea typeface="Calibri (MS) Bold"/>
                <a:cs typeface="Calibri (MS) Bold"/>
                <a:sym typeface="Calibri (MS) Bold"/>
              </a:rPr>
              <a:t>Initial Contact</a:t>
            </a:r>
          </a:p>
        </p:txBody>
      </p:sp>
      <p:sp>
        <p:nvSpPr>
          <p:cNvPr name="TextBox 16" id="16"/>
          <p:cNvSpPr txBox="true"/>
          <p:nvPr/>
        </p:nvSpPr>
        <p:spPr>
          <a:xfrm rot="0">
            <a:off x="1258214" y="3563236"/>
            <a:ext cx="2974267" cy="233931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Victim receives SMS or WhatsApp message from unknown number. Message contains a link to a 'KYC update portal' or 'bill payment page'. Sender mimics official bank or telecom branding.</a:t>
            </a:r>
          </a:p>
        </p:txBody>
      </p:sp>
      <p:sp>
        <p:nvSpPr>
          <p:cNvPr name="TextBox 17" id="17"/>
          <p:cNvSpPr txBox="true"/>
          <p:nvPr/>
        </p:nvSpPr>
        <p:spPr>
          <a:xfrm rot="0">
            <a:off x="4785979" y="3547996"/>
            <a:ext cx="23022" cy="524304"/>
          </a:xfrm>
          <a:prstGeom prst="rect">
            <a:avLst/>
          </a:prstGeom>
        </p:spPr>
        <p:txBody>
          <a:bodyPr anchor="t" rtlCol="false" tIns="0" lIns="0" bIns="0" rIns="0">
            <a:spAutoFit/>
          </a:bodyPr>
          <a:lstStyle/>
          <a:p>
            <a:pPr algn="ctr">
              <a:lnSpc>
                <a:spcPts val="3602"/>
              </a:lnSpc>
            </a:pPr>
            <a:r>
              <a:rPr lang="en-US" sz="3002" b="true">
                <a:solidFill>
                  <a:srgbClr val="00F0C8"/>
                </a:solidFill>
                <a:latin typeface="Calibri (MS) Bold"/>
                <a:ea typeface="Calibri (MS) Bold"/>
                <a:cs typeface="Calibri (MS) Bold"/>
                <a:sym typeface="Calibri (MS) Bold"/>
              </a:rPr>
              <a:t>→</a:t>
            </a:r>
          </a:p>
        </p:txBody>
      </p:sp>
      <p:grpSp>
        <p:nvGrpSpPr>
          <p:cNvPr name="Group 18" id="18"/>
          <p:cNvGrpSpPr/>
          <p:nvPr/>
        </p:nvGrpSpPr>
        <p:grpSpPr>
          <a:xfrm rot="0">
            <a:off x="4863455" y="2461279"/>
            <a:ext cx="3862549" cy="3313481"/>
            <a:chOff x="0" y="0"/>
            <a:chExt cx="5150066" cy="4417974"/>
          </a:xfrm>
        </p:grpSpPr>
        <p:sp>
          <p:nvSpPr>
            <p:cNvPr name="Freeform 19" id="19"/>
            <p:cNvSpPr/>
            <p:nvPr/>
          </p:nvSpPr>
          <p:spPr>
            <a:xfrm flipH="false" flipV="false" rot="0">
              <a:off x="0" y="0"/>
              <a:ext cx="5149977" cy="4417949"/>
            </a:xfrm>
            <a:custGeom>
              <a:avLst/>
              <a:gdLst/>
              <a:ahLst/>
              <a:cxnLst/>
              <a:rect r="r" b="b" t="t" l="l"/>
              <a:pathLst>
                <a:path h="4417949" w="5149977">
                  <a:moveTo>
                    <a:pt x="0" y="220853"/>
                  </a:moveTo>
                  <a:cubicBezTo>
                    <a:pt x="0" y="98933"/>
                    <a:pt x="98933" y="0"/>
                    <a:pt x="220853" y="0"/>
                  </a:cubicBezTo>
                  <a:lnTo>
                    <a:pt x="4929124" y="0"/>
                  </a:lnTo>
                  <a:cubicBezTo>
                    <a:pt x="5051171" y="0"/>
                    <a:pt x="5149977" y="98933"/>
                    <a:pt x="5149977" y="220853"/>
                  </a:cubicBezTo>
                  <a:lnTo>
                    <a:pt x="5149977" y="4197096"/>
                  </a:lnTo>
                  <a:cubicBezTo>
                    <a:pt x="5149977" y="4319143"/>
                    <a:pt x="5051044" y="4417949"/>
                    <a:pt x="4929124" y="4417949"/>
                  </a:cubicBezTo>
                  <a:lnTo>
                    <a:pt x="220853" y="4417949"/>
                  </a:lnTo>
                  <a:cubicBezTo>
                    <a:pt x="98933" y="4417949"/>
                    <a:pt x="0" y="4319016"/>
                    <a:pt x="0" y="4197096"/>
                  </a:cubicBezTo>
                  <a:close/>
                </a:path>
              </a:pathLst>
            </a:custGeom>
            <a:solidFill>
              <a:srgbClr val="111622"/>
            </a:solidFill>
            <a:ln w="19065" cap="sq">
              <a:solidFill>
                <a:srgbClr val="FFD600"/>
              </a:solidFill>
              <a:prstDash val="solid"/>
              <a:miter/>
            </a:ln>
          </p:spPr>
        </p:sp>
      </p:grpSp>
      <p:grpSp>
        <p:nvGrpSpPr>
          <p:cNvPr name="Group 20" id="20"/>
          <p:cNvGrpSpPr/>
          <p:nvPr/>
        </p:nvGrpSpPr>
        <p:grpSpPr>
          <a:xfrm rot="0">
            <a:off x="5147520" y="2745343"/>
            <a:ext cx="617706" cy="617706"/>
            <a:chOff x="0" y="0"/>
            <a:chExt cx="823608" cy="823608"/>
          </a:xfrm>
        </p:grpSpPr>
        <p:sp>
          <p:nvSpPr>
            <p:cNvPr name="Freeform 21" id="21"/>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FFD600"/>
            </a:solidFill>
          </p:spPr>
        </p:sp>
        <p:sp>
          <p:nvSpPr>
            <p:cNvPr name="TextBox 22" id="22"/>
            <p:cNvSpPr txBox="true"/>
            <p:nvPr/>
          </p:nvSpPr>
          <p:spPr>
            <a:xfrm>
              <a:off x="0" y="-38100"/>
              <a:ext cx="823608" cy="861708"/>
            </a:xfrm>
            <a:prstGeom prst="rect">
              <a:avLst/>
            </a:prstGeom>
          </p:spPr>
          <p:txBody>
            <a:bodyPr anchor="ctr" rtlCol="false" tIns="50800" lIns="50800" bIns="50800" rIns="50800"/>
            <a:lstStyle/>
            <a:p>
              <a:pPr algn="ctr">
                <a:lnSpc>
                  <a:spcPts val="2882"/>
                </a:lnSpc>
              </a:pPr>
              <a:r>
                <a:rPr lang="en-US" sz="2401" b="true">
                  <a:solidFill>
                    <a:srgbClr val="0B0E17"/>
                  </a:solidFill>
                  <a:latin typeface="Calibri (MS) Bold"/>
                  <a:ea typeface="Calibri (MS) Bold"/>
                  <a:cs typeface="Calibri (MS) Bold"/>
                  <a:sym typeface="Calibri (MS) Bold"/>
                </a:rPr>
                <a:t>2</a:t>
              </a:r>
            </a:p>
          </p:txBody>
        </p:sp>
      </p:grpSp>
      <p:sp>
        <p:nvSpPr>
          <p:cNvPr name="TextBox 23" id="23"/>
          <p:cNvSpPr txBox="true"/>
          <p:nvPr/>
        </p:nvSpPr>
        <p:spPr>
          <a:xfrm rot="0">
            <a:off x="5993930" y="2665286"/>
            <a:ext cx="2356561" cy="514779"/>
          </a:xfrm>
          <a:prstGeom prst="rect">
            <a:avLst/>
          </a:prstGeom>
        </p:spPr>
        <p:txBody>
          <a:bodyPr anchor="t" rtlCol="false" tIns="0" lIns="0" bIns="0" rIns="0">
            <a:spAutoFit/>
          </a:bodyPr>
          <a:lstStyle/>
          <a:p>
            <a:pPr algn="l">
              <a:lnSpc>
                <a:spcPts val="2702"/>
              </a:lnSpc>
            </a:pPr>
            <a:r>
              <a:rPr lang="en-US" sz="2251" b="true">
                <a:solidFill>
                  <a:srgbClr val="EEEEF0"/>
                </a:solidFill>
                <a:latin typeface="Calibri (MS) Bold"/>
                <a:ea typeface="Calibri (MS) Bold"/>
                <a:cs typeface="Calibri (MS) Bold"/>
                <a:sym typeface="Calibri (MS) Bold"/>
              </a:rPr>
              <a:t>Psychological Trigger</a:t>
            </a:r>
          </a:p>
        </p:txBody>
      </p:sp>
      <p:sp>
        <p:nvSpPr>
          <p:cNvPr name="TextBox 24" id="24"/>
          <p:cNvSpPr txBox="true"/>
          <p:nvPr/>
        </p:nvSpPr>
        <p:spPr>
          <a:xfrm rot="0">
            <a:off x="5307597" y="3563236"/>
            <a:ext cx="2974267" cy="233931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Message creates urgency: 'Complete KYC in 24 hours or account blocked.' Uses authority (RBI, SBI, TRAI). Fear of financial loss overrides rational verification instincts.</a:t>
            </a:r>
          </a:p>
        </p:txBody>
      </p:sp>
      <p:sp>
        <p:nvSpPr>
          <p:cNvPr name="TextBox 25" id="25"/>
          <p:cNvSpPr txBox="true"/>
          <p:nvPr/>
        </p:nvSpPr>
        <p:spPr>
          <a:xfrm rot="0">
            <a:off x="8835361" y="3547996"/>
            <a:ext cx="23022" cy="524304"/>
          </a:xfrm>
          <a:prstGeom prst="rect">
            <a:avLst/>
          </a:prstGeom>
        </p:spPr>
        <p:txBody>
          <a:bodyPr anchor="t" rtlCol="false" tIns="0" lIns="0" bIns="0" rIns="0">
            <a:spAutoFit/>
          </a:bodyPr>
          <a:lstStyle/>
          <a:p>
            <a:pPr algn="ctr">
              <a:lnSpc>
                <a:spcPts val="3602"/>
              </a:lnSpc>
            </a:pPr>
            <a:r>
              <a:rPr lang="en-US" sz="3002" b="true">
                <a:solidFill>
                  <a:srgbClr val="00F0C8"/>
                </a:solidFill>
                <a:latin typeface="Calibri (MS) Bold"/>
                <a:ea typeface="Calibri (MS) Bold"/>
                <a:cs typeface="Calibri (MS) Bold"/>
                <a:sym typeface="Calibri (MS) Bold"/>
              </a:rPr>
              <a:t>→</a:t>
            </a:r>
          </a:p>
        </p:txBody>
      </p:sp>
      <p:grpSp>
        <p:nvGrpSpPr>
          <p:cNvPr name="Group 26" id="26"/>
          <p:cNvGrpSpPr/>
          <p:nvPr/>
        </p:nvGrpSpPr>
        <p:grpSpPr>
          <a:xfrm rot="0">
            <a:off x="8912838" y="2461279"/>
            <a:ext cx="3862549" cy="3313481"/>
            <a:chOff x="0" y="0"/>
            <a:chExt cx="5150066" cy="4417974"/>
          </a:xfrm>
        </p:grpSpPr>
        <p:sp>
          <p:nvSpPr>
            <p:cNvPr name="Freeform 27" id="27"/>
            <p:cNvSpPr/>
            <p:nvPr/>
          </p:nvSpPr>
          <p:spPr>
            <a:xfrm flipH="false" flipV="false" rot="0">
              <a:off x="0" y="0"/>
              <a:ext cx="5149977" cy="4417949"/>
            </a:xfrm>
            <a:custGeom>
              <a:avLst/>
              <a:gdLst/>
              <a:ahLst/>
              <a:cxnLst/>
              <a:rect r="r" b="b" t="t" l="l"/>
              <a:pathLst>
                <a:path h="4417949" w="5149977">
                  <a:moveTo>
                    <a:pt x="0" y="220853"/>
                  </a:moveTo>
                  <a:cubicBezTo>
                    <a:pt x="0" y="98933"/>
                    <a:pt x="98933" y="0"/>
                    <a:pt x="220853" y="0"/>
                  </a:cubicBezTo>
                  <a:lnTo>
                    <a:pt x="4929124" y="0"/>
                  </a:lnTo>
                  <a:cubicBezTo>
                    <a:pt x="5051171" y="0"/>
                    <a:pt x="5149977" y="98933"/>
                    <a:pt x="5149977" y="220853"/>
                  </a:cubicBezTo>
                  <a:lnTo>
                    <a:pt x="5149977" y="4197096"/>
                  </a:lnTo>
                  <a:cubicBezTo>
                    <a:pt x="5149977" y="4319143"/>
                    <a:pt x="5051044" y="4417949"/>
                    <a:pt x="4929124" y="4417949"/>
                  </a:cubicBezTo>
                  <a:lnTo>
                    <a:pt x="220853" y="4417949"/>
                  </a:lnTo>
                  <a:cubicBezTo>
                    <a:pt x="98933" y="4417949"/>
                    <a:pt x="0" y="4319016"/>
                    <a:pt x="0" y="4197096"/>
                  </a:cubicBezTo>
                  <a:close/>
                </a:path>
              </a:pathLst>
            </a:custGeom>
            <a:solidFill>
              <a:srgbClr val="111622"/>
            </a:solidFill>
            <a:ln w="19065" cap="sq">
              <a:solidFill>
                <a:srgbClr val="FF3B5C"/>
              </a:solidFill>
              <a:prstDash val="solid"/>
              <a:miter/>
            </a:ln>
          </p:spPr>
        </p:sp>
      </p:grpSp>
      <p:grpSp>
        <p:nvGrpSpPr>
          <p:cNvPr name="Group 28" id="28"/>
          <p:cNvGrpSpPr/>
          <p:nvPr/>
        </p:nvGrpSpPr>
        <p:grpSpPr>
          <a:xfrm rot="0">
            <a:off x="9196902" y="2745343"/>
            <a:ext cx="617706" cy="617706"/>
            <a:chOff x="0" y="0"/>
            <a:chExt cx="823608" cy="823608"/>
          </a:xfrm>
        </p:grpSpPr>
        <p:sp>
          <p:nvSpPr>
            <p:cNvPr name="Freeform 29" id="29"/>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FF3B5C"/>
            </a:solidFill>
          </p:spPr>
        </p:sp>
        <p:sp>
          <p:nvSpPr>
            <p:cNvPr name="TextBox 30" id="30"/>
            <p:cNvSpPr txBox="true"/>
            <p:nvPr/>
          </p:nvSpPr>
          <p:spPr>
            <a:xfrm>
              <a:off x="0" y="-38100"/>
              <a:ext cx="823608" cy="861708"/>
            </a:xfrm>
            <a:prstGeom prst="rect">
              <a:avLst/>
            </a:prstGeom>
          </p:spPr>
          <p:txBody>
            <a:bodyPr anchor="ctr" rtlCol="false" tIns="50800" lIns="50800" bIns="50800" rIns="50800"/>
            <a:lstStyle/>
            <a:p>
              <a:pPr algn="ctr">
                <a:lnSpc>
                  <a:spcPts val="2882"/>
                </a:lnSpc>
              </a:pPr>
              <a:r>
                <a:rPr lang="en-US" sz="2401" b="true">
                  <a:solidFill>
                    <a:srgbClr val="0B0E17"/>
                  </a:solidFill>
                  <a:latin typeface="Calibri (MS) Bold"/>
                  <a:ea typeface="Calibri (MS) Bold"/>
                  <a:cs typeface="Calibri (MS) Bold"/>
                  <a:sym typeface="Calibri (MS) Bold"/>
                </a:rPr>
                <a:t>3</a:t>
              </a:r>
            </a:p>
          </p:txBody>
        </p:sp>
      </p:grpSp>
      <p:sp>
        <p:nvSpPr>
          <p:cNvPr name="TextBox 31" id="31"/>
          <p:cNvSpPr txBox="true"/>
          <p:nvPr/>
        </p:nvSpPr>
        <p:spPr>
          <a:xfrm rot="0">
            <a:off x="10043312" y="2665286"/>
            <a:ext cx="2356561" cy="514779"/>
          </a:xfrm>
          <a:prstGeom prst="rect">
            <a:avLst/>
          </a:prstGeom>
        </p:spPr>
        <p:txBody>
          <a:bodyPr anchor="t" rtlCol="false" tIns="0" lIns="0" bIns="0" rIns="0">
            <a:spAutoFit/>
          </a:bodyPr>
          <a:lstStyle/>
          <a:p>
            <a:pPr algn="l">
              <a:lnSpc>
                <a:spcPts val="2702"/>
              </a:lnSpc>
            </a:pPr>
            <a:r>
              <a:rPr lang="en-US" sz="2251" b="true">
                <a:solidFill>
                  <a:srgbClr val="EEEEF0"/>
                </a:solidFill>
                <a:latin typeface="Calibri (MS) Bold"/>
                <a:ea typeface="Calibri (MS) Bold"/>
                <a:cs typeface="Calibri (MS) Bold"/>
                <a:sym typeface="Calibri (MS) Bold"/>
              </a:rPr>
              <a:t>Data Harvesting</a:t>
            </a:r>
          </a:p>
        </p:txBody>
      </p:sp>
      <p:sp>
        <p:nvSpPr>
          <p:cNvPr name="TextBox 32" id="32"/>
          <p:cNvSpPr txBox="true"/>
          <p:nvPr/>
        </p:nvSpPr>
        <p:spPr>
          <a:xfrm rot="0">
            <a:off x="9384430" y="3654728"/>
            <a:ext cx="2974267" cy="233931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Victim clicks link → lands on pixel-perfect clone of bank website. Enters UPI PIN, debit card number, OTP, or bank credentials. Page silently captures everything.</a:t>
            </a:r>
          </a:p>
        </p:txBody>
      </p:sp>
      <p:sp>
        <p:nvSpPr>
          <p:cNvPr name="TextBox 33" id="33"/>
          <p:cNvSpPr txBox="true"/>
          <p:nvPr/>
        </p:nvSpPr>
        <p:spPr>
          <a:xfrm rot="0">
            <a:off x="12884744" y="3547996"/>
            <a:ext cx="23022" cy="524304"/>
          </a:xfrm>
          <a:prstGeom prst="rect">
            <a:avLst/>
          </a:prstGeom>
        </p:spPr>
        <p:txBody>
          <a:bodyPr anchor="t" rtlCol="false" tIns="0" lIns="0" bIns="0" rIns="0">
            <a:spAutoFit/>
          </a:bodyPr>
          <a:lstStyle/>
          <a:p>
            <a:pPr algn="ctr">
              <a:lnSpc>
                <a:spcPts val="3602"/>
              </a:lnSpc>
            </a:pPr>
            <a:r>
              <a:rPr lang="en-US" sz="3002" b="true">
                <a:solidFill>
                  <a:srgbClr val="00F0C8"/>
                </a:solidFill>
                <a:latin typeface="Calibri (MS) Bold"/>
                <a:ea typeface="Calibri (MS) Bold"/>
                <a:cs typeface="Calibri (MS) Bold"/>
                <a:sym typeface="Calibri (MS) Bold"/>
              </a:rPr>
              <a:t>→</a:t>
            </a:r>
          </a:p>
        </p:txBody>
      </p:sp>
      <p:grpSp>
        <p:nvGrpSpPr>
          <p:cNvPr name="Group 34" id="34"/>
          <p:cNvGrpSpPr/>
          <p:nvPr/>
        </p:nvGrpSpPr>
        <p:grpSpPr>
          <a:xfrm rot="0">
            <a:off x="12962220" y="2461279"/>
            <a:ext cx="3862549" cy="3313481"/>
            <a:chOff x="0" y="0"/>
            <a:chExt cx="5150066" cy="4417974"/>
          </a:xfrm>
        </p:grpSpPr>
        <p:sp>
          <p:nvSpPr>
            <p:cNvPr name="Freeform 35" id="35"/>
            <p:cNvSpPr/>
            <p:nvPr/>
          </p:nvSpPr>
          <p:spPr>
            <a:xfrm flipH="false" flipV="false" rot="0">
              <a:off x="0" y="0"/>
              <a:ext cx="5149977" cy="4417949"/>
            </a:xfrm>
            <a:custGeom>
              <a:avLst/>
              <a:gdLst/>
              <a:ahLst/>
              <a:cxnLst/>
              <a:rect r="r" b="b" t="t" l="l"/>
              <a:pathLst>
                <a:path h="4417949" w="5149977">
                  <a:moveTo>
                    <a:pt x="0" y="220853"/>
                  </a:moveTo>
                  <a:cubicBezTo>
                    <a:pt x="0" y="98933"/>
                    <a:pt x="98933" y="0"/>
                    <a:pt x="220853" y="0"/>
                  </a:cubicBezTo>
                  <a:lnTo>
                    <a:pt x="4929124" y="0"/>
                  </a:lnTo>
                  <a:cubicBezTo>
                    <a:pt x="5051171" y="0"/>
                    <a:pt x="5149977" y="98933"/>
                    <a:pt x="5149977" y="220853"/>
                  </a:cubicBezTo>
                  <a:lnTo>
                    <a:pt x="5149977" y="4197096"/>
                  </a:lnTo>
                  <a:cubicBezTo>
                    <a:pt x="5149977" y="4319143"/>
                    <a:pt x="5051044" y="4417949"/>
                    <a:pt x="4929124" y="4417949"/>
                  </a:cubicBezTo>
                  <a:lnTo>
                    <a:pt x="220853" y="4417949"/>
                  </a:lnTo>
                  <a:cubicBezTo>
                    <a:pt x="98933" y="4417949"/>
                    <a:pt x="0" y="4319016"/>
                    <a:pt x="0" y="4197096"/>
                  </a:cubicBezTo>
                  <a:close/>
                </a:path>
              </a:pathLst>
            </a:custGeom>
            <a:solidFill>
              <a:srgbClr val="111622"/>
            </a:solidFill>
            <a:ln w="19065" cap="sq">
              <a:solidFill>
                <a:srgbClr val="FF0044"/>
              </a:solidFill>
              <a:prstDash val="solid"/>
              <a:miter/>
            </a:ln>
          </p:spPr>
        </p:sp>
      </p:grpSp>
      <p:grpSp>
        <p:nvGrpSpPr>
          <p:cNvPr name="Group 36" id="36"/>
          <p:cNvGrpSpPr/>
          <p:nvPr/>
        </p:nvGrpSpPr>
        <p:grpSpPr>
          <a:xfrm rot="0">
            <a:off x="13246284" y="2745343"/>
            <a:ext cx="617706" cy="617706"/>
            <a:chOff x="0" y="0"/>
            <a:chExt cx="823608" cy="823608"/>
          </a:xfrm>
        </p:grpSpPr>
        <p:sp>
          <p:nvSpPr>
            <p:cNvPr name="Freeform 37" id="37"/>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FF0044"/>
            </a:solidFill>
          </p:spPr>
        </p:sp>
        <p:sp>
          <p:nvSpPr>
            <p:cNvPr name="TextBox 38" id="38"/>
            <p:cNvSpPr txBox="true"/>
            <p:nvPr/>
          </p:nvSpPr>
          <p:spPr>
            <a:xfrm>
              <a:off x="0" y="-38100"/>
              <a:ext cx="823608" cy="861708"/>
            </a:xfrm>
            <a:prstGeom prst="rect">
              <a:avLst/>
            </a:prstGeom>
          </p:spPr>
          <p:txBody>
            <a:bodyPr anchor="ctr" rtlCol="false" tIns="50800" lIns="50800" bIns="50800" rIns="50800"/>
            <a:lstStyle/>
            <a:p>
              <a:pPr algn="ctr">
                <a:lnSpc>
                  <a:spcPts val="2882"/>
                </a:lnSpc>
              </a:pPr>
              <a:r>
                <a:rPr lang="en-US" sz="2401" b="true">
                  <a:solidFill>
                    <a:srgbClr val="0B0E17"/>
                  </a:solidFill>
                  <a:latin typeface="Calibri (MS) Bold"/>
                  <a:ea typeface="Calibri (MS) Bold"/>
                  <a:cs typeface="Calibri (MS) Bold"/>
                  <a:sym typeface="Calibri (MS) Bold"/>
                </a:rPr>
                <a:t>4</a:t>
              </a:r>
            </a:p>
          </p:txBody>
        </p:sp>
      </p:grpSp>
      <p:sp>
        <p:nvSpPr>
          <p:cNvPr name="TextBox 39" id="39"/>
          <p:cNvSpPr txBox="true"/>
          <p:nvPr/>
        </p:nvSpPr>
        <p:spPr>
          <a:xfrm rot="0">
            <a:off x="14092695" y="2665286"/>
            <a:ext cx="2356561" cy="514779"/>
          </a:xfrm>
          <a:prstGeom prst="rect">
            <a:avLst/>
          </a:prstGeom>
        </p:spPr>
        <p:txBody>
          <a:bodyPr anchor="t" rtlCol="false" tIns="0" lIns="0" bIns="0" rIns="0">
            <a:spAutoFit/>
          </a:bodyPr>
          <a:lstStyle/>
          <a:p>
            <a:pPr algn="l">
              <a:lnSpc>
                <a:spcPts val="2702"/>
              </a:lnSpc>
            </a:pPr>
            <a:r>
              <a:rPr lang="en-US" sz="2251" b="true">
                <a:solidFill>
                  <a:srgbClr val="EEEEF0"/>
                </a:solidFill>
                <a:latin typeface="Calibri (MS) Bold"/>
                <a:ea typeface="Calibri (MS) Bold"/>
                <a:cs typeface="Calibri (MS) Bold"/>
                <a:sym typeface="Calibri (MS) Bold"/>
              </a:rPr>
              <a:t>Transaction / Theft</a:t>
            </a:r>
          </a:p>
        </p:txBody>
      </p:sp>
      <p:sp>
        <p:nvSpPr>
          <p:cNvPr name="TextBox 40" id="40"/>
          <p:cNvSpPr txBox="true"/>
          <p:nvPr/>
        </p:nvSpPr>
        <p:spPr>
          <a:xfrm rot="0">
            <a:off x="13431641" y="3563236"/>
            <a:ext cx="2974267" cy="233931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Attacker uses harvested credentials in real-time. Initiates unauthorized UPI transfer or links victim's account. Money moved within seconds, often irrecoverable.</a:t>
            </a:r>
          </a:p>
        </p:txBody>
      </p:sp>
      <p:grpSp>
        <p:nvGrpSpPr>
          <p:cNvPr name="Group 41" id="41"/>
          <p:cNvGrpSpPr/>
          <p:nvPr/>
        </p:nvGrpSpPr>
        <p:grpSpPr>
          <a:xfrm rot="0">
            <a:off x="823608" y="6314294"/>
            <a:ext cx="16197539" cy="82363"/>
            <a:chOff x="0" y="0"/>
            <a:chExt cx="21596718" cy="109817"/>
          </a:xfrm>
        </p:grpSpPr>
        <p:sp>
          <p:nvSpPr>
            <p:cNvPr name="Freeform 42" id="42"/>
            <p:cNvSpPr/>
            <p:nvPr/>
          </p:nvSpPr>
          <p:spPr>
            <a:xfrm flipH="false" flipV="false" rot="0">
              <a:off x="0" y="0"/>
              <a:ext cx="21596731" cy="109733"/>
            </a:xfrm>
            <a:custGeom>
              <a:avLst/>
              <a:gdLst/>
              <a:ahLst/>
              <a:cxnLst/>
              <a:rect r="r" b="b" t="t" l="l"/>
              <a:pathLst>
                <a:path h="109733" w="21596731">
                  <a:moveTo>
                    <a:pt x="0" y="5461"/>
                  </a:moveTo>
                  <a:cubicBezTo>
                    <a:pt x="0" y="2413"/>
                    <a:pt x="2413" y="0"/>
                    <a:pt x="5461" y="0"/>
                  </a:cubicBezTo>
                  <a:lnTo>
                    <a:pt x="21591270" y="0"/>
                  </a:lnTo>
                  <a:cubicBezTo>
                    <a:pt x="21594318" y="0"/>
                    <a:pt x="21596731" y="2413"/>
                    <a:pt x="21596731" y="5461"/>
                  </a:cubicBezTo>
                  <a:lnTo>
                    <a:pt x="21596731" y="104267"/>
                  </a:lnTo>
                  <a:cubicBezTo>
                    <a:pt x="21596731" y="107315"/>
                    <a:pt x="21594318" y="109728"/>
                    <a:pt x="21591270" y="109728"/>
                  </a:cubicBezTo>
                  <a:lnTo>
                    <a:pt x="5461" y="109728"/>
                  </a:lnTo>
                  <a:cubicBezTo>
                    <a:pt x="2413" y="109855"/>
                    <a:pt x="0" y="107315"/>
                    <a:pt x="0" y="104267"/>
                  </a:cubicBezTo>
                  <a:close/>
                </a:path>
              </a:pathLst>
            </a:custGeom>
            <a:solidFill>
              <a:srgbClr val="00F0C8"/>
            </a:solidFill>
          </p:spPr>
        </p:sp>
      </p:grpSp>
      <p:sp>
        <p:nvSpPr>
          <p:cNvPr name="TextBox 43" id="43"/>
          <p:cNvSpPr txBox="true"/>
          <p:nvPr/>
        </p:nvSpPr>
        <p:spPr>
          <a:xfrm rot="0">
            <a:off x="915048" y="6577394"/>
            <a:ext cx="16014659" cy="514779"/>
          </a:xfrm>
          <a:prstGeom prst="rect">
            <a:avLst/>
          </a:prstGeom>
        </p:spPr>
        <p:txBody>
          <a:bodyPr anchor="t" rtlCol="false" tIns="0" lIns="0" bIns="0" rIns="0">
            <a:spAutoFit/>
          </a:bodyPr>
          <a:lstStyle/>
          <a:p>
            <a:pPr algn="l">
              <a:lnSpc>
                <a:spcPts val="3242"/>
              </a:lnSpc>
            </a:pPr>
            <a:r>
              <a:rPr lang="en-US" sz="2702" b="true">
                <a:solidFill>
                  <a:srgbClr val="00F0C8"/>
                </a:solidFill>
                <a:latin typeface="Calibri (MS) Bold"/>
                <a:ea typeface="Calibri (MS) Bold"/>
                <a:cs typeface="Calibri (MS) Bold"/>
                <a:sym typeface="Calibri (MS) Bold"/>
              </a:rPr>
              <a:t>⛨  WHERE ScamShield AI INTERVENES — Between Stage 1 &amp; 2</a:t>
            </a:r>
          </a:p>
        </p:txBody>
      </p:sp>
      <p:sp>
        <p:nvSpPr>
          <p:cNvPr name="TextBox 44" id="44"/>
          <p:cNvSpPr txBox="true"/>
          <p:nvPr/>
        </p:nvSpPr>
        <p:spPr>
          <a:xfrm rot="0">
            <a:off x="915048" y="7128424"/>
            <a:ext cx="15602855" cy="2777728"/>
          </a:xfrm>
          <a:prstGeom prst="rect">
            <a:avLst/>
          </a:prstGeom>
        </p:spPr>
        <p:txBody>
          <a:bodyPr anchor="t" rtlCol="false" tIns="0" lIns="0" bIns="0" rIns="0">
            <a:spAutoFit/>
          </a:bodyPr>
          <a:lstStyle/>
          <a:p>
            <a:pPr algn="l">
              <a:lnSpc>
                <a:spcPts val="3026"/>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BEFORE the user clicks: NLP engine analyzes the incoming message text — detects urgency patterns, authority impersonation, and threat language</a:t>
            </a:r>
          </a:p>
          <a:p>
            <a:pPr algn="l">
              <a:lnSpc>
                <a:spcPts val="3026"/>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BEFORE credentials enter: URL analysis engine inspects the link destination — domain age, SSL validity, known scam pattern matching</a:t>
            </a:r>
          </a:p>
          <a:p>
            <a:pPr algn="l">
              <a:lnSpc>
                <a:spcPts val="3026"/>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AT the QR scan: QR decoder extracts embedded URL and runs full analysis pipeline — catches QR-based phishing that bypasses text filters</a:t>
            </a:r>
          </a:p>
          <a:p>
            <a:pPr algn="l">
              <a:lnSpc>
                <a:spcPts val="3026"/>
              </a:lnSpc>
            </a:pPr>
            <a:r>
              <a:rPr lang="en-US" sz="1801" b="true">
                <a:solidFill>
                  <a:srgbClr val="00E676"/>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Zero-Trust Principle: Assume every link and message is hostile. Require positive verification before trusting any payment-related communication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grpSp>
        <p:nvGrpSpPr>
          <p:cNvPr name="Group 4" id="4"/>
          <p:cNvGrpSpPr/>
          <p:nvPr/>
        </p:nvGrpSpPr>
        <p:grpSpPr>
          <a:xfrm rot="0">
            <a:off x="823608" y="549069"/>
            <a:ext cx="1400127" cy="411804"/>
            <a:chOff x="0" y="0"/>
            <a:chExt cx="1866836" cy="549072"/>
          </a:xfrm>
        </p:grpSpPr>
        <p:sp>
          <p:nvSpPr>
            <p:cNvPr name="Freeform 5" id="5"/>
            <p:cNvSpPr/>
            <p:nvPr/>
          </p:nvSpPr>
          <p:spPr>
            <a:xfrm flipH="false" flipV="false" rot="0">
              <a:off x="0" y="0"/>
              <a:ext cx="1866900" cy="549148"/>
            </a:xfrm>
            <a:custGeom>
              <a:avLst/>
              <a:gdLst/>
              <a:ahLst/>
              <a:cxnLst/>
              <a:rect r="r" b="b" t="t" l="l"/>
              <a:pathLst>
                <a:path h="549148" w="1866900">
                  <a:moveTo>
                    <a:pt x="0" y="274574"/>
                  </a:moveTo>
                  <a:cubicBezTo>
                    <a:pt x="0" y="122936"/>
                    <a:pt x="122936" y="0"/>
                    <a:pt x="274574" y="0"/>
                  </a:cubicBezTo>
                  <a:lnTo>
                    <a:pt x="1592326" y="0"/>
                  </a:lnTo>
                  <a:cubicBezTo>
                    <a:pt x="1743964" y="0"/>
                    <a:pt x="1866900" y="122936"/>
                    <a:pt x="1866900" y="274574"/>
                  </a:cubicBezTo>
                  <a:cubicBezTo>
                    <a:pt x="1866900" y="426212"/>
                    <a:pt x="1743964" y="549148"/>
                    <a:pt x="1592326" y="549148"/>
                  </a:cubicBezTo>
                  <a:lnTo>
                    <a:pt x="274574" y="549148"/>
                  </a:lnTo>
                  <a:cubicBezTo>
                    <a:pt x="122936" y="549021"/>
                    <a:pt x="0" y="426212"/>
                    <a:pt x="0" y="274574"/>
                  </a:cubicBezTo>
                  <a:close/>
                </a:path>
              </a:pathLst>
            </a:custGeom>
            <a:solidFill>
              <a:srgbClr val="333D55"/>
            </a:solidFill>
          </p:spPr>
        </p:sp>
        <p:sp>
          <p:nvSpPr>
            <p:cNvPr name="TextBox 6" id="6"/>
            <p:cNvSpPr txBox="true"/>
            <p:nvPr/>
          </p:nvSpPr>
          <p:spPr>
            <a:xfrm>
              <a:off x="0" y="-28575"/>
              <a:ext cx="1866836" cy="577647"/>
            </a:xfrm>
            <a:prstGeom prst="rect">
              <a:avLst/>
            </a:prstGeom>
          </p:spPr>
          <p:txBody>
            <a:bodyPr anchor="ctr" rtlCol="false" tIns="50800" lIns="50800" bIns="50800" rIns="50800"/>
            <a:lstStyle/>
            <a:p>
              <a:pPr algn="ctr">
                <a:lnSpc>
                  <a:spcPts val="1621"/>
                </a:lnSpc>
              </a:pPr>
              <a:r>
                <a:rPr lang="en-US" sz="1351" b="true">
                  <a:solidFill>
                    <a:srgbClr val="99A0B0"/>
                  </a:solidFill>
                  <a:latin typeface="Calibri (MS) Bold"/>
                  <a:ea typeface="Calibri (MS) Bold"/>
                  <a:cs typeface="Calibri (MS) Bold"/>
                  <a:sym typeface="Calibri (MS) Bold"/>
                </a:rPr>
                <a:t>SLIDE 04</a:t>
              </a:r>
            </a:p>
          </p:txBody>
        </p:sp>
      </p:grpSp>
      <p:sp>
        <p:nvSpPr>
          <p:cNvPr name="TextBox 7" id="7"/>
          <p:cNvSpPr txBox="true"/>
          <p:nvPr/>
        </p:nvSpPr>
        <p:spPr>
          <a:xfrm rot="0">
            <a:off x="915048" y="989495"/>
            <a:ext cx="10798502" cy="817893"/>
          </a:xfrm>
          <a:prstGeom prst="rect">
            <a:avLst/>
          </a:prstGeom>
        </p:spPr>
        <p:txBody>
          <a:bodyPr anchor="t" rtlCol="false" tIns="0" lIns="0" bIns="0" rIns="0">
            <a:spAutoFit/>
          </a:bodyPr>
          <a:lstStyle/>
          <a:p>
            <a:pPr algn="l">
              <a:lnSpc>
                <a:spcPts val="5764"/>
              </a:lnSpc>
            </a:pPr>
            <a:r>
              <a:rPr lang="en-US" sz="4803" b="true">
                <a:solidFill>
                  <a:srgbClr val="EEEEF0"/>
                </a:solidFill>
                <a:latin typeface="Calibri (MS) Bold"/>
                <a:ea typeface="Calibri (MS) Bold"/>
                <a:cs typeface="Calibri (MS) Bold"/>
                <a:sym typeface="Calibri (MS) Bold"/>
              </a:rPr>
              <a:t>Methodology &amp; Architecture</a:t>
            </a:r>
          </a:p>
        </p:txBody>
      </p:sp>
      <p:grpSp>
        <p:nvGrpSpPr>
          <p:cNvPr name="Group 8" id="8"/>
          <p:cNvGrpSpPr/>
          <p:nvPr/>
        </p:nvGrpSpPr>
        <p:grpSpPr>
          <a:xfrm rot="0">
            <a:off x="823608" y="1853108"/>
            <a:ext cx="3431677" cy="38129"/>
            <a:chOff x="0" y="0"/>
            <a:chExt cx="4575569" cy="50838"/>
          </a:xfrm>
        </p:grpSpPr>
        <p:sp>
          <p:nvSpPr>
            <p:cNvPr name="Freeform 9" id="9"/>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sp>
        <p:nvSpPr>
          <p:cNvPr name="TextBox 10" id="10"/>
          <p:cNvSpPr txBox="true"/>
          <p:nvPr/>
        </p:nvSpPr>
        <p:spPr>
          <a:xfrm rot="0">
            <a:off x="915048" y="2341159"/>
            <a:ext cx="3935139" cy="358464"/>
          </a:xfrm>
          <a:prstGeom prst="rect">
            <a:avLst/>
          </a:prstGeom>
        </p:spPr>
        <p:txBody>
          <a:bodyPr anchor="t" rtlCol="false" tIns="0" lIns="0" bIns="0" rIns="0">
            <a:spAutoFit/>
          </a:bodyPr>
          <a:lstStyle/>
          <a:p>
            <a:pPr algn="l">
              <a:lnSpc>
                <a:spcPts val="2161"/>
              </a:lnSpc>
            </a:pPr>
            <a:r>
              <a:rPr lang="en-US" sz="1801" b="true">
                <a:solidFill>
                  <a:srgbClr val="00F0C8"/>
                </a:solidFill>
                <a:latin typeface="Calibri (MS) Bold"/>
                <a:ea typeface="Calibri (MS) Bold"/>
                <a:cs typeface="Calibri (MS) Bold"/>
                <a:sym typeface="Calibri (MS) Bold"/>
              </a:rPr>
              <a:t>INPUT LAYER</a:t>
            </a:r>
          </a:p>
        </p:txBody>
      </p:sp>
      <p:grpSp>
        <p:nvGrpSpPr>
          <p:cNvPr name="Group 11" id="11"/>
          <p:cNvGrpSpPr/>
          <p:nvPr/>
        </p:nvGrpSpPr>
        <p:grpSpPr>
          <a:xfrm rot="0">
            <a:off x="814073" y="2735809"/>
            <a:ext cx="2764412" cy="979932"/>
            <a:chOff x="0" y="0"/>
            <a:chExt cx="3685883" cy="1306576"/>
          </a:xfrm>
        </p:grpSpPr>
        <p:sp>
          <p:nvSpPr>
            <p:cNvPr name="Freeform 12" id="12"/>
            <p:cNvSpPr/>
            <p:nvPr/>
          </p:nvSpPr>
          <p:spPr>
            <a:xfrm flipH="false" flipV="false" rot="0">
              <a:off x="0" y="0"/>
              <a:ext cx="3685794" cy="1306576"/>
            </a:xfrm>
            <a:custGeom>
              <a:avLst/>
              <a:gdLst/>
              <a:ahLst/>
              <a:cxnLst/>
              <a:rect r="r" b="b" t="t" l="l"/>
              <a:pathLst>
                <a:path h="1306576" w="3685794">
                  <a:moveTo>
                    <a:pt x="0" y="65278"/>
                  </a:moveTo>
                  <a:cubicBezTo>
                    <a:pt x="0" y="29210"/>
                    <a:pt x="29210" y="0"/>
                    <a:pt x="65278" y="0"/>
                  </a:cubicBezTo>
                  <a:lnTo>
                    <a:pt x="3620516" y="0"/>
                  </a:lnTo>
                  <a:cubicBezTo>
                    <a:pt x="3656584" y="0"/>
                    <a:pt x="3685794" y="29210"/>
                    <a:pt x="3685794" y="65278"/>
                  </a:cubicBezTo>
                  <a:lnTo>
                    <a:pt x="3685794" y="1241298"/>
                  </a:lnTo>
                  <a:cubicBezTo>
                    <a:pt x="3685794" y="1277366"/>
                    <a:pt x="3656584" y="1306576"/>
                    <a:pt x="3620516" y="1306576"/>
                  </a:cubicBezTo>
                  <a:lnTo>
                    <a:pt x="65278" y="1306576"/>
                  </a:lnTo>
                  <a:cubicBezTo>
                    <a:pt x="29210" y="1306576"/>
                    <a:pt x="0" y="1277366"/>
                    <a:pt x="0" y="1241298"/>
                  </a:cubicBezTo>
                  <a:close/>
                </a:path>
              </a:pathLst>
            </a:custGeom>
            <a:solidFill>
              <a:srgbClr val="111622"/>
            </a:solidFill>
            <a:ln w="19065" cap="sq">
              <a:solidFill>
                <a:srgbClr val="00F0C8"/>
              </a:solidFill>
              <a:prstDash val="solid"/>
              <a:miter/>
            </a:ln>
          </p:spPr>
        </p:sp>
      </p:grpSp>
      <p:sp>
        <p:nvSpPr>
          <p:cNvPr name="TextBox 13" id="13"/>
          <p:cNvSpPr txBox="true"/>
          <p:nvPr/>
        </p:nvSpPr>
        <p:spPr>
          <a:xfrm rot="0">
            <a:off x="915048" y="2981668"/>
            <a:ext cx="2255090" cy="701631"/>
          </a:xfrm>
          <a:prstGeom prst="rect">
            <a:avLst/>
          </a:prstGeom>
        </p:spPr>
        <p:txBody>
          <a:bodyPr anchor="t" rtlCol="false" tIns="0" lIns="0" bIns="0" rIns="0">
            <a:spAutoFit/>
          </a:bodyPr>
          <a:lstStyle/>
          <a:p>
            <a:pPr algn="ctr">
              <a:lnSpc>
                <a:spcPts val="2308"/>
              </a:lnSpc>
            </a:pPr>
            <a:r>
              <a:rPr lang="en-US" sz="1923" b="true">
                <a:solidFill>
                  <a:srgbClr val="EEEEF0"/>
                </a:solidFill>
                <a:latin typeface="Calibri (MS) Bold"/>
                <a:ea typeface="Calibri (MS) Bold"/>
                <a:cs typeface="Calibri (MS) Bold"/>
                <a:sym typeface="Calibri (MS) Bold"/>
              </a:rPr>
              <a:t>📋  Paste URL</a:t>
            </a:r>
          </a:p>
        </p:txBody>
      </p:sp>
      <p:grpSp>
        <p:nvGrpSpPr>
          <p:cNvPr name="Group 14" id="14"/>
          <p:cNvGrpSpPr/>
          <p:nvPr/>
        </p:nvGrpSpPr>
        <p:grpSpPr>
          <a:xfrm rot="0">
            <a:off x="3833946" y="2735809"/>
            <a:ext cx="2764412" cy="979932"/>
            <a:chOff x="0" y="0"/>
            <a:chExt cx="3685883" cy="1306576"/>
          </a:xfrm>
        </p:grpSpPr>
        <p:sp>
          <p:nvSpPr>
            <p:cNvPr name="Freeform 15" id="15"/>
            <p:cNvSpPr/>
            <p:nvPr/>
          </p:nvSpPr>
          <p:spPr>
            <a:xfrm flipH="false" flipV="false" rot="0">
              <a:off x="0" y="0"/>
              <a:ext cx="3685794" cy="1306576"/>
            </a:xfrm>
            <a:custGeom>
              <a:avLst/>
              <a:gdLst/>
              <a:ahLst/>
              <a:cxnLst/>
              <a:rect r="r" b="b" t="t" l="l"/>
              <a:pathLst>
                <a:path h="1306576" w="3685794">
                  <a:moveTo>
                    <a:pt x="0" y="65278"/>
                  </a:moveTo>
                  <a:cubicBezTo>
                    <a:pt x="0" y="29210"/>
                    <a:pt x="29210" y="0"/>
                    <a:pt x="65278" y="0"/>
                  </a:cubicBezTo>
                  <a:lnTo>
                    <a:pt x="3620516" y="0"/>
                  </a:lnTo>
                  <a:cubicBezTo>
                    <a:pt x="3656584" y="0"/>
                    <a:pt x="3685794" y="29210"/>
                    <a:pt x="3685794" y="65278"/>
                  </a:cubicBezTo>
                  <a:lnTo>
                    <a:pt x="3685794" y="1241298"/>
                  </a:lnTo>
                  <a:cubicBezTo>
                    <a:pt x="3685794" y="1277366"/>
                    <a:pt x="3656584" y="1306576"/>
                    <a:pt x="3620516" y="1306576"/>
                  </a:cubicBezTo>
                  <a:lnTo>
                    <a:pt x="65278" y="1306576"/>
                  </a:lnTo>
                  <a:cubicBezTo>
                    <a:pt x="29210" y="1306576"/>
                    <a:pt x="0" y="1277366"/>
                    <a:pt x="0" y="1241298"/>
                  </a:cubicBezTo>
                  <a:close/>
                </a:path>
              </a:pathLst>
            </a:custGeom>
            <a:solidFill>
              <a:srgbClr val="111622"/>
            </a:solidFill>
            <a:ln w="19065" cap="sq">
              <a:solidFill>
                <a:srgbClr val="00F0C8"/>
              </a:solidFill>
              <a:prstDash val="solid"/>
              <a:miter/>
            </a:ln>
          </p:spPr>
        </p:sp>
      </p:grpSp>
      <p:sp>
        <p:nvSpPr>
          <p:cNvPr name="TextBox 16" id="16"/>
          <p:cNvSpPr txBox="true"/>
          <p:nvPr/>
        </p:nvSpPr>
        <p:spPr>
          <a:xfrm rot="0">
            <a:off x="4049163" y="2972143"/>
            <a:ext cx="2287934" cy="711156"/>
          </a:xfrm>
          <a:prstGeom prst="rect">
            <a:avLst/>
          </a:prstGeom>
        </p:spPr>
        <p:txBody>
          <a:bodyPr anchor="t" rtlCol="false" tIns="0" lIns="0" bIns="0" rIns="0">
            <a:spAutoFit/>
          </a:bodyPr>
          <a:lstStyle/>
          <a:p>
            <a:pPr algn="ctr">
              <a:lnSpc>
                <a:spcPts val="2341"/>
              </a:lnSpc>
            </a:pPr>
            <a:r>
              <a:rPr lang="en-US" sz="1951" b="true">
                <a:solidFill>
                  <a:srgbClr val="EEEEF0"/>
                </a:solidFill>
                <a:latin typeface="Calibri (MS) Bold"/>
                <a:ea typeface="Calibri (MS) Bold"/>
                <a:cs typeface="Calibri (MS) Bold"/>
                <a:sym typeface="Calibri (MS) Bold"/>
              </a:rPr>
              <a:t>📷  Upload QR</a:t>
            </a:r>
          </a:p>
        </p:txBody>
      </p:sp>
      <p:grpSp>
        <p:nvGrpSpPr>
          <p:cNvPr name="Group 17" id="17"/>
          <p:cNvGrpSpPr/>
          <p:nvPr/>
        </p:nvGrpSpPr>
        <p:grpSpPr>
          <a:xfrm rot="0">
            <a:off x="6853828" y="2735809"/>
            <a:ext cx="2764412" cy="979932"/>
            <a:chOff x="0" y="0"/>
            <a:chExt cx="3685883" cy="1306576"/>
          </a:xfrm>
        </p:grpSpPr>
        <p:sp>
          <p:nvSpPr>
            <p:cNvPr name="Freeform 18" id="18"/>
            <p:cNvSpPr/>
            <p:nvPr/>
          </p:nvSpPr>
          <p:spPr>
            <a:xfrm flipH="false" flipV="false" rot="0">
              <a:off x="0" y="0"/>
              <a:ext cx="3685794" cy="1306576"/>
            </a:xfrm>
            <a:custGeom>
              <a:avLst/>
              <a:gdLst/>
              <a:ahLst/>
              <a:cxnLst/>
              <a:rect r="r" b="b" t="t" l="l"/>
              <a:pathLst>
                <a:path h="1306576" w="3685794">
                  <a:moveTo>
                    <a:pt x="0" y="65278"/>
                  </a:moveTo>
                  <a:cubicBezTo>
                    <a:pt x="0" y="29210"/>
                    <a:pt x="29210" y="0"/>
                    <a:pt x="65278" y="0"/>
                  </a:cubicBezTo>
                  <a:lnTo>
                    <a:pt x="3620516" y="0"/>
                  </a:lnTo>
                  <a:cubicBezTo>
                    <a:pt x="3656584" y="0"/>
                    <a:pt x="3685794" y="29210"/>
                    <a:pt x="3685794" y="65278"/>
                  </a:cubicBezTo>
                  <a:lnTo>
                    <a:pt x="3685794" y="1241298"/>
                  </a:lnTo>
                  <a:cubicBezTo>
                    <a:pt x="3685794" y="1277366"/>
                    <a:pt x="3656584" y="1306576"/>
                    <a:pt x="3620516" y="1306576"/>
                  </a:cubicBezTo>
                  <a:lnTo>
                    <a:pt x="65278" y="1306576"/>
                  </a:lnTo>
                  <a:cubicBezTo>
                    <a:pt x="29210" y="1306576"/>
                    <a:pt x="0" y="1277366"/>
                    <a:pt x="0" y="1241298"/>
                  </a:cubicBezTo>
                  <a:close/>
                </a:path>
              </a:pathLst>
            </a:custGeom>
            <a:solidFill>
              <a:srgbClr val="111622"/>
            </a:solidFill>
            <a:ln w="19065" cap="sq">
              <a:solidFill>
                <a:srgbClr val="00F0C8"/>
              </a:solidFill>
              <a:prstDash val="solid"/>
              <a:miter/>
            </a:ln>
          </p:spPr>
        </p:sp>
      </p:grpSp>
      <p:sp>
        <p:nvSpPr>
          <p:cNvPr name="TextBox 19" id="19"/>
          <p:cNvSpPr txBox="true"/>
          <p:nvPr/>
        </p:nvSpPr>
        <p:spPr>
          <a:xfrm rot="0">
            <a:off x="7092067" y="2953093"/>
            <a:ext cx="2287934" cy="711156"/>
          </a:xfrm>
          <a:prstGeom prst="rect">
            <a:avLst/>
          </a:prstGeom>
        </p:spPr>
        <p:txBody>
          <a:bodyPr anchor="t" rtlCol="false" tIns="0" lIns="0" bIns="0" rIns="0">
            <a:spAutoFit/>
          </a:bodyPr>
          <a:lstStyle/>
          <a:p>
            <a:pPr algn="ctr">
              <a:lnSpc>
                <a:spcPts val="2341"/>
              </a:lnSpc>
            </a:pPr>
            <a:r>
              <a:rPr lang="en-US" sz="1951" b="true">
                <a:solidFill>
                  <a:srgbClr val="EEEEF0"/>
                </a:solidFill>
                <a:latin typeface="Calibri (MS) Bold"/>
                <a:ea typeface="Calibri (MS) Bold"/>
                <a:cs typeface="Calibri (MS) Bold"/>
                <a:sym typeface="Calibri (MS) Bold"/>
              </a:rPr>
              <a:t>💬  Paste Message</a:t>
            </a:r>
          </a:p>
        </p:txBody>
      </p:sp>
      <p:sp>
        <p:nvSpPr>
          <p:cNvPr name="TextBox 20" id="20"/>
          <p:cNvSpPr txBox="true"/>
          <p:nvPr/>
        </p:nvSpPr>
        <p:spPr>
          <a:xfrm rot="0">
            <a:off x="4209459" y="3685261"/>
            <a:ext cx="503453" cy="524304"/>
          </a:xfrm>
          <a:prstGeom prst="rect">
            <a:avLst/>
          </a:prstGeom>
        </p:spPr>
        <p:txBody>
          <a:bodyPr anchor="t" rtlCol="false" tIns="0" lIns="0" bIns="0" rIns="0">
            <a:spAutoFit/>
          </a:bodyPr>
          <a:lstStyle/>
          <a:p>
            <a:pPr algn="ctr">
              <a:lnSpc>
                <a:spcPts val="3963"/>
              </a:lnSpc>
            </a:pPr>
            <a:r>
              <a:rPr lang="en-US" sz="3302">
                <a:solidFill>
                  <a:srgbClr val="00F0C8"/>
                </a:solidFill>
                <a:latin typeface="Calibri (MS)"/>
                <a:ea typeface="Calibri (MS)"/>
                <a:cs typeface="Calibri (MS)"/>
                <a:sym typeface="Calibri (MS)"/>
              </a:rPr>
              <a:t>▼</a:t>
            </a:r>
          </a:p>
        </p:txBody>
      </p:sp>
      <p:sp>
        <p:nvSpPr>
          <p:cNvPr name="TextBox 21" id="21"/>
          <p:cNvSpPr txBox="true"/>
          <p:nvPr/>
        </p:nvSpPr>
        <p:spPr>
          <a:xfrm rot="0">
            <a:off x="915048" y="3645198"/>
            <a:ext cx="6680483" cy="358464"/>
          </a:xfrm>
          <a:prstGeom prst="rect">
            <a:avLst/>
          </a:prstGeom>
        </p:spPr>
        <p:txBody>
          <a:bodyPr anchor="t" rtlCol="false" tIns="0" lIns="0" bIns="0" rIns="0">
            <a:spAutoFit/>
          </a:bodyPr>
          <a:lstStyle/>
          <a:p>
            <a:pPr algn="l">
              <a:lnSpc>
                <a:spcPts val="2161"/>
              </a:lnSpc>
            </a:pPr>
            <a:r>
              <a:rPr lang="en-US" sz="1801" b="true">
                <a:solidFill>
                  <a:srgbClr val="00F0C8"/>
                </a:solidFill>
                <a:latin typeface="Calibri (MS) Bold"/>
                <a:ea typeface="Calibri (MS) Bold"/>
                <a:cs typeface="Calibri (MS) Bold"/>
                <a:sym typeface="Calibri (MS) Bold"/>
              </a:rPr>
              <a:t>ANALYSIS ENGINE</a:t>
            </a:r>
          </a:p>
        </p:txBody>
      </p:sp>
      <p:grpSp>
        <p:nvGrpSpPr>
          <p:cNvPr name="Group 22" id="22"/>
          <p:cNvGrpSpPr/>
          <p:nvPr/>
        </p:nvGrpSpPr>
        <p:grpSpPr>
          <a:xfrm rot="0">
            <a:off x="814073" y="4108485"/>
            <a:ext cx="4960687" cy="3862549"/>
            <a:chOff x="0" y="0"/>
            <a:chExt cx="6614249" cy="5150066"/>
          </a:xfrm>
        </p:grpSpPr>
        <p:sp>
          <p:nvSpPr>
            <p:cNvPr name="Freeform 23" id="23"/>
            <p:cNvSpPr/>
            <p:nvPr/>
          </p:nvSpPr>
          <p:spPr>
            <a:xfrm flipH="false" flipV="false" rot="0">
              <a:off x="0" y="0"/>
              <a:ext cx="6614287" cy="5150104"/>
            </a:xfrm>
            <a:custGeom>
              <a:avLst/>
              <a:gdLst/>
              <a:ahLst/>
              <a:cxnLst/>
              <a:rect r="r" b="b" t="t" l="l"/>
              <a:pathLst>
                <a:path h="5150104" w="6614287">
                  <a:moveTo>
                    <a:pt x="0" y="257556"/>
                  </a:moveTo>
                  <a:cubicBezTo>
                    <a:pt x="0" y="115316"/>
                    <a:pt x="115316" y="0"/>
                    <a:pt x="257556" y="0"/>
                  </a:cubicBezTo>
                  <a:lnTo>
                    <a:pt x="6356731" y="0"/>
                  </a:lnTo>
                  <a:cubicBezTo>
                    <a:pt x="6498971" y="0"/>
                    <a:pt x="6614287" y="115316"/>
                    <a:pt x="6614287" y="257556"/>
                  </a:cubicBezTo>
                  <a:lnTo>
                    <a:pt x="6614287" y="4892548"/>
                  </a:lnTo>
                  <a:cubicBezTo>
                    <a:pt x="6614287" y="5034788"/>
                    <a:pt x="6498971" y="5150104"/>
                    <a:pt x="6356731" y="5150104"/>
                  </a:cubicBezTo>
                  <a:lnTo>
                    <a:pt x="257556" y="5150104"/>
                  </a:lnTo>
                  <a:cubicBezTo>
                    <a:pt x="115316" y="5150104"/>
                    <a:pt x="0" y="5034788"/>
                    <a:pt x="0" y="4892548"/>
                  </a:cubicBezTo>
                  <a:close/>
                </a:path>
              </a:pathLst>
            </a:custGeom>
            <a:solidFill>
              <a:srgbClr val="111622"/>
            </a:solidFill>
            <a:ln w="19065" cap="sq">
              <a:solidFill>
                <a:srgbClr val="222A3A"/>
              </a:solidFill>
              <a:prstDash val="solid"/>
              <a:miter/>
            </a:ln>
          </p:spPr>
        </p:sp>
      </p:grpSp>
      <p:sp>
        <p:nvSpPr>
          <p:cNvPr name="TextBox 24" id="24"/>
          <p:cNvSpPr txBox="true"/>
          <p:nvPr/>
        </p:nvSpPr>
        <p:spPr>
          <a:xfrm rot="0">
            <a:off x="1120940" y="4234329"/>
            <a:ext cx="503453" cy="661568"/>
          </a:xfrm>
          <a:prstGeom prst="rect">
            <a:avLst/>
          </a:prstGeom>
        </p:spPr>
        <p:txBody>
          <a:bodyPr anchor="t" rtlCol="false" tIns="0" lIns="0" bIns="0" rIns="0">
            <a:spAutoFit/>
          </a:bodyPr>
          <a:lstStyle/>
          <a:p>
            <a:pPr algn="l">
              <a:lnSpc>
                <a:spcPts val="3963"/>
              </a:lnSpc>
            </a:pPr>
            <a:r>
              <a:rPr lang="en-US" sz="3302">
                <a:solidFill>
                  <a:srgbClr val="009EFF"/>
                </a:solidFill>
                <a:latin typeface="Calibri (MS)"/>
                <a:ea typeface="Calibri (MS)"/>
                <a:cs typeface="Calibri (MS)"/>
                <a:sym typeface="Calibri (MS)"/>
              </a:rPr>
              <a:t>🔗</a:t>
            </a:r>
          </a:p>
        </p:txBody>
      </p:sp>
      <p:sp>
        <p:nvSpPr>
          <p:cNvPr name="TextBox 25" id="25"/>
          <p:cNvSpPr txBox="true"/>
          <p:nvPr/>
        </p:nvSpPr>
        <p:spPr>
          <a:xfrm rot="0">
            <a:off x="1120940" y="4802448"/>
            <a:ext cx="4346943"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URL Threat Analysis</a:t>
            </a:r>
          </a:p>
        </p:txBody>
      </p:sp>
      <p:sp>
        <p:nvSpPr>
          <p:cNvPr name="TextBox 26" id="26"/>
          <p:cNvSpPr txBox="true"/>
          <p:nvPr/>
        </p:nvSpPr>
        <p:spPr>
          <a:xfrm rot="0">
            <a:off x="1120940" y="5263829"/>
            <a:ext cx="4346943" cy="2446049"/>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WHOIS domain age check</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SSL certificate validation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URL pattern regex matching</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Google Safe Browsing API</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Homograph attack detection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Known scam domain DB lookup</a:t>
            </a:r>
          </a:p>
        </p:txBody>
      </p:sp>
      <p:grpSp>
        <p:nvGrpSpPr>
          <p:cNvPr name="Group 27" id="27"/>
          <p:cNvGrpSpPr/>
          <p:nvPr/>
        </p:nvGrpSpPr>
        <p:grpSpPr>
          <a:xfrm rot="0">
            <a:off x="6030230" y="4108485"/>
            <a:ext cx="4960687" cy="3862549"/>
            <a:chOff x="0" y="0"/>
            <a:chExt cx="6614249" cy="5150066"/>
          </a:xfrm>
        </p:grpSpPr>
        <p:sp>
          <p:nvSpPr>
            <p:cNvPr name="Freeform 28" id="28"/>
            <p:cNvSpPr/>
            <p:nvPr/>
          </p:nvSpPr>
          <p:spPr>
            <a:xfrm flipH="false" flipV="false" rot="0">
              <a:off x="0" y="0"/>
              <a:ext cx="6614287" cy="5150104"/>
            </a:xfrm>
            <a:custGeom>
              <a:avLst/>
              <a:gdLst/>
              <a:ahLst/>
              <a:cxnLst/>
              <a:rect r="r" b="b" t="t" l="l"/>
              <a:pathLst>
                <a:path h="5150104" w="6614287">
                  <a:moveTo>
                    <a:pt x="0" y="257556"/>
                  </a:moveTo>
                  <a:cubicBezTo>
                    <a:pt x="0" y="115316"/>
                    <a:pt x="115316" y="0"/>
                    <a:pt x="257556" y="0"/>
                  </a:cubicBezTo>
                  <a:lnTo>
                    <a:pt x="6356731" y="0"/>
                  </a:lnTo>
                  <a:cubicBezTo>
                    <a:pt x="6498971" y="0"/>
                    <a:pt x="6614287" y="115316"/>
                    <a:pt x="6614287" y="257556"/>
                  </a:cubicBezTo>
                  <a:lnTo>
                    <a:pt x="6614287" y="4892548"/>
                  </a:lnTo>
                  <a:cubicBezTo>
                    <a:pt x="6614287" y="5034788"/>
                    <a:pt x="6498971" y="5150104"/>
                    <a:pt x="6356731" y="5150104"/>
                  </a:cubicBezTo>
                  <a:lnTo>
                    <a:pt x="257556" y="5150104"/>
                  </a:lnTo>
                  <a:cubicBezTo>
                    <a:pt x="115316" y="5150104"/>
                    <a:pt x="0" y="5034788"/>
                    <a:pt x="0" y="4892548"/>
                  </a:cubicBezTo>
                  <a:close/>
                </a:path>
              </a:pathLst>
            </a:custGeom>
            <a:solidFill>
              <a:srgbClr val="111622"/>
            </a:solidFill>
            <a:ln w="19065" cap="sq">
              <a:solidFill>
                <a:srgbClr val="222A3A"/>
              </a:solidFill>
              <a:prstDash val="solid"/>
              <a:miter/>
            </a:ln>
          </p:spPr>
        </p:sp>
      </p:grpSp>
      <p:sp>
        <p:nvSpPr>
          <p:cNvPr name="TextBox 29" id="29"/>
          <p:cNvSpPr txBox="true"/>
          <p:nvPr/>
        </p:nvSpPr>
        <p:spPr>
          <a:xfrm rot="0">
            <a:off x="6337097" y="4234329"/>
            <a:ext cx="503453" cy="661568"/>
          </a:xfrm>
          <a:prstGeom prst="rect">
            <a:avLst/>
          </a:prstGeom>
        </p:spPr>
        <p:txBody>
          <a:bodyPr anchor="t" rtlCol="false" tIns="0" lIns="0" bIns="0" rIns="0">
            <a:spAutoFit/>
          </a:bodyPr>
          <a:lstStyle/>
          <a:p>
            <a:pPr algn="l">
              <a:lnSpc>
                <a:spcPts val="3963"/>
              </a:lnSpc>
            </a:pPr>
            <a:r>
              <a:rPr lang="en-US" sz="3302">
                <a:solidFill>
                  <a:srgbClr val="00F0C8"/>
                </a:solidFill>
                <a:latin typeface="Calibri (MS)"/>
                <a:ea typeface="Calibri (MS)"/>
                <a:cs typeface="Calibri (MS)"/>
                <a:sym typeface="Calibri (MS)"/>
              </a:rPr>
              <a:t>🧠</a:t>
            </a:r>
          </a:p>
        </p:txBody>
      </p:sp>
      <p:sp>
        <p:nvSpPr>
          <p:cNvPr name="TextBox 30" id="30"/>
          <p:cNvSpPr txBox="true"/>
          <p:nvPr/>
        </p:nvSpPr>
        <p:spPr>
          <a:xfrm rot="0">
            <a:off x="6337097" y="4802448"/>
            <a:ext cx="4346943"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NLP Message Intelligence</a:t>
            </a:r>
          </a:p>
        </p:txBody>
      </p:sp>
      <p:sp>
        <p:nvSpPr>
          <p:cNvPr name="TextBox 31" id="31"/>
          <p:cNvSpPr txBox="true"/>
          <p:nvPr/>
        </p:nvSpPr>
        <p:spPr>
          <a:xfrm rot="0">
            <a:off x="6337097" y="5263829"/>
            <a:ext cx="4346943" cy="2446049"/>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Urgency score (time-pressure words)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Authority impersonation detection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Scam category classification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Hindi + English support</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Sentiment &amp; intent analysis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Keyword + pattern extraction</a:t>
            </a:r>
          </a:p>
        </p:txBody>
      </p:sp>
      <p:grpSp>
        <p:nvGrpSpPr>
          <p:cNvPr name="Group 32" id="32"/>
          <p:cNvGrpSpPr/>
          <p:nvPr/>
        </p:nvGrpSpPr>
        <p:grpSpPr>
          <a:xfrm rot="0">
            <a:off x="11246377" y="4108485"/>
            <a:ext cx="4960687" cy="3862549"/>
            <a:chOff x="0" y="0"/>
            <a:chExt cx="6614249" cy="5150066"/>
          </a:xfrm>
        </p:grpSpPr>
        <p:sp>
          <p:nvSpPr>
            <p:cNvPr name="Freeform 33" id="33"/>
            <p:cNvSpPr/>
            <p:nvPr/>
          </p:nvSpPr>
          <p:spPr>
            <a:xfrm flipH="false" flipV="false" rot="0">
              <a:off x="0" y="0"/>
              <a:ext cx="6614287" cy="5150104"/>
            </a:xfrm>
            <a:custGeom>
              <a:avLst/>
              <a:gdLst/>
              <a:ahLst/>
              <a:cxnLst/>
              <a:rect r="r" b="b" t="t" l="l"/>
              <a:pathLst>
                <a:path h="5150104" w="6614287">
                  <a:moveTo>
                    <a:pt x="0" y="257556"/>
                  </a:moveTo>
                  <a:cubicBezTo>
                    <a:pt x="0" y="115316"/>
                    <a:pt x="115316" y="0"/>
                    <a:pt x="257556" y="0"/>
                  </a:cubicBezTo>
                  <a:lnTo>
                    <a:pt x="6356731" y="0"/>
                  </a:lnTo>
                  <a:cubicBezTo>
                    <a:pt x="6498971" y="0"/>
                    <a:pt x="6614287" y="115316"/>
                    <a:pt x="6614287" y="257556"/>
                  </a:cubicBezTo>
                  <a:lnTo>
                    <a:pt x="6614287" y="4892548"/>
                  </a:lnTo>
                  <a:cubicBezTo>
                    <a:pt x="6614287" y="5034788"/>
                    <a:pt x="6498971" y="5150104"/>
                    <a:pt x="6356731" y="5150104"/>
                  </a:cubicBezTo>
                  <a:lnTo>
                    <a:pt x="257556" y="5150104"/>
                  </a:lnTo>
                  <a:cubicBezTo>
                    <a:pt x="115316" y="5150104"/>
                    <a:pt x="0" y="5034788"/>
                    <a:pt x="0" y="4892548"/>
                  </a:cubicBezTo>
                  <a:close/>
                </a:path>
              </a:pathLst>
            </a:custGeom>
            <a:solidFill>
              <a:srgbClr val="111622"/>
            </a:solidFill>
            <a:ln w="19065" cap="sq">
              <a:solidFill>
                <a:srgbClr val="222A3A"/>
              </a:solidFill>
              <a:prstDash val="solid"/>
              <a:miter/>
            </a:ln>
          </p:spPr>
        </p:sp>
      </p:grpSp>
      <p:sp>
        <p:nvSpPr>
          <p:cNvPr name="TextBox 34" id="34"/>
          <p:cNvSpPr txBox="true"/>
          <p:nvPr/>
        </p:nvSpPr>
        <p:spPr>
          <a:xfrm rot="0">
            <a:off x="11553254" y="4234329"/>
            <a:ext cx="503453" cy="661568"/>
          </a:xfrm>
          <a:prstGeom prst="rect">
            <a:avLst/>
          </a:prstGeom>
        </p:spPr>
        <p:txBody>
          <a:bodyPr anchor="t" rtlCol="false" tIns="0" lIns="0" bIns="0" rIns="0">
            <a:spAutoFit/>
          </a:bodyPr>
          <a:lstStyle/>
          <a:p>
            <a:pPr algn="l">
              <a:lnSpc>
                <a:spcPts val="3963"/>
              </a:lnSpc>
            </a:pPr>
            <a:r>
              <a:rPr lang="en-US" sz="3302">
                <a:solidFill>
                  <a:srgbClr val="00E676"/>
                </a:solidFill>
                <a:latin typeface="Calibri (MS)"/>
                <a:ea typeface="Calibri (MS)"/>
                <a:cs typeface="Calibri (MS)"/>
                <a:sym typeface="Calibri (MS)"/>
              </a:rPr>
              <a:t>📱</a:t>
            </a:r>
          </a:p>
        </p:txBody>
      </p:sp>
      <p:sp>
        <p:nvSpPr>
          <p:cNvPr name="TextBox 35" id="35"/>
          <p:cNvSpPr txBox="true"/>
          <p:nvPr/>
        </p:nvSpPr>
        <p:spPr>
          <a:xfrm rot="0">
            <a:off x="11553254" y="4802448"/>
            <a:ext cx="4346943"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QR Code Pipeline</a:t>
            </a:r>
          </a:p>
        </p:txBody>
      </p:sp>
      <p:sp>
        <p:nvSpPr>
          <p:cNvPr name="TextBox 36" id="36"/>
          <p:cNvSpPr txBox="true"/>
          <p:nvPr/>
        </p:nvSpPr>
        <p:spPr>
          <a:xfrm rot="0">
            <a:off x="11553254" y="5263829"/>
            <a:ext cx="4346943" cy="2446049"/>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Browser-based QR decoder</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Extract embedded URL payload</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Detect multi-redirect chains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Feed into URL analysis engine</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Flag non-UPI QR masquerading</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Visual decode confirmation</a:t>
            </a:r>
          </a:p>
        </p:txBody>
      </p:sp>
      <p:sp>
        <p:nvSpPr>
          <p:cNvPr name="TextBox 37" id="37"/>
          <p:cNvSpPr txBox="true"/>
          <p:nvPr/>
        </p:nvSpPr>
        <p:spPr>
          <a:xfrm rot="0">
            <a:off x="8327479" y="8009182"/>
            <a:ext cx="503453" cy="524304"/>
          </a:xfrm>
          <a:prstGeom prst="rect">
            <a:avLst/>
          </a:prstGeom>
        </p:spPr>
        <p:txBody>
          <a:bodyPr anchor="t" rtlCol="false" tIns="0" lIns="0" bIns="0" rIns="0">
            <a:spAutoFit/>
          </a:bodyPr>
          <a:lstStyle/>
          <a:p>
            <a:pPr algn="ctr">
              <a:lnSpc>
                <a:spcPts val="3963"/>
              </a:lnSpc>
            </a:pPr>
            <a:r>
              <a:rPr lang="en-US" sz="3302">
                <a:solidFill>
                  <a:srgbClr val="00F0C8"/>
                </a:solidFill>
                <a:latin typeface="Calibri (MS)"/>
                <a:ea typeface="Calibri (MS)"/>
                <a:cs typeface="Calibri (MS)"/>
                <a:sym typeface="Calibri (MS)"/>
              </a:rPr>
              <a:t>▼</a:t>
            </a:r>
          </a:p>
        </p:txBody>
      </p:sp>
      <p:grpSp>
        <p:nvGrpSpPr>
          <p:cNvPr name="Group 38" id="38"/>
          <p:cNvGrpSpPr/>
          <p:nvPr/>
        </p:nvGrpSpPr>
        <p:grpSpPr>
          <a:xfrm rot="0">
            <a:off x="809301" y="8427634"/>
            <a:ext cx="16226133" cy="1264006"/>
            <a:chOff x="0" y="0"/>
            <a:chExt cx="21634844" cy="1685341"/>
          </a:xfrm>
        </p:grpSpPr>
        <p:sp>
          <p:nvSpPr>
            <p:cNvPr name="Freeform 39" id="39"/>
            <p:cNvSpPr/>
            <p:nvPr/>
          </p:nvSpPr>
          <p:spPr>
            <a:xfrm flipH="false" flipV="false" rot="0">
              <a:off x="0" y="0"/>
              <a:ext cx="21634958" cy="1685417"/>
            </a:xfrm>
            <a:custGeom>
              <a:avLst/>
              <a:gdLst/>
              <a:ahLst/>
              <a:cxnLst/>
              <a:rect r="r" b="b" t="t" l="l"/>
              <a:pathLst>
                <a:path h="1685417" w="21634958">
                  <a:moveTo>
                    <a:pt x="0" y="84328"/>
                  </a:moveTo>
                  <a:cubicBezTo>
                    <a:pt x="0" y="37719"/>
                    <a:pt x="37719" y="0"/>
                    <a:pt x="84328" y="0"/>
                  </a:cubicBezTo>
                  <a:lnTo>
                    <a:pt x="21550630" y="0"/>
                  </a:lnTo>
                  <a:cubicBezTo>
                    <a:pt x="21597113" y="0"/>
                    <a:pt x="21634958" y="37719"/>
                    <a:pt x="21634958" y="84328"/>
                  </a:cubicBezTo>
                  <a:lnTo>
                    <a:pt x="21634958" y="1601089"/>
                  </a:lnTo>
                  <a:cubicBezTo>
                    <a:pt x="21634958" y="1647571"/>
                    <a:pt x="21597240" y="1685417"/>
                    <a:pt x="21550630" y="1685417"/>
                  </a:cubicBezTo>
                  <a:lnTo>
                    <a:pt x="84328" y="1685417"/>
                  </a:lnTo>
                  <a:cubicBezTo>
                    <a:pt x="37846" y="1685417"/>
                    <a:pt x="0" y="1647698"/>
                    <a:pt x="0" y="1601089"/>
                  </a:cubicBezTo>
                  <a:close/>
                </a:path>
              </a:pathLst>
            </a:custGeom>
            <a:solidFill>
              <a:srgbClr val="111622"/>
            </a:solidFill>
            <a:ln w="28597" cap="sq">
              <a:solidFill>
                <a:srgbClr val="00E676"/>
              </a:solidFill>
              <a:prstDash val="solid"/>
              <a:miter/>
            </a:ln>
          </p:spPr>
        </p:sp>
      </p:grpSp>
      <p:sp>
        <p:nvSpPr>
          <p:cNvPr name="TextBox 40" id="40"/>
          <p:cNvSpPr txBox="true"/>
          <p:nvPr/>
        </p:nvSpPr>
        <p:spPr>
          <a:xfrm rot="0">
            <a:off x="1189577" y="8518188"/>
            <a:ext cx="15465590" cy="427091"/>
          </a:xfrm>
          <a:prstGeom prst="rect">
            <a:avLst/>
          </a:prstGeom>
        </p:spPr>
        <p:txBody>
          <a:bodyPr anchor="t" rtlCol="false" tIns="0" lIns="0" bIns="0" rIns="0">
            <a:spAutoFit/>
          </a:bodyPr>
          <a:lstStyle/>
          <a:p>
            <a:pPr algn="l">
              <a:lnSpc>
                <a:spcPts val="2882"/>
              </a:lnSpc>
            </a:pPr>
            <a:r>
              <a:rPr lang="en-US" sz="2401" b="true">
                <a:solidFill>
                  <a:srgbClr val="00E676"/>
                </a:solidFill>
                <a:latin typeface="Calibri (MS) Bold"/>
                <a:ea typeface="Calibri (MS) Bold"/>
                <a:cs typeface="Calibri (MS) Bold"/>
                <a:sym typeface="Calibri (MS) Bold"/>
              </a:rPr>
              <a:t>📊  OUTPUT — Combined Threat Risk Report</a:t>
            </a:r>
          </a:p>
        </p:txBody>
      </p:sp>
      <p:sp>
        <p:nvSpPr>
          <p:cNvPr name="TextBox 41" id="41"/>
          <p:cNvSpPr txBox="true"/>
          <p:nvPr/>
        </p:nvSpPr>
        <p:spPr>
          <a:xfrm rot="0">
            <a:off x="1189577" y="9008145"/>
            <a:ext cx="15465590" cy="55484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Color-coded risk level (🔴 High / 🟡 Medium / 🟢 Safe)  ·  Per-factor score breakdown  ·  Plain-English 'Why this is suspicious' summary  ·  Actionable recommendation (Block / Verify / Safe)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grpSp>
        <p:nvGrpSpPr>
          <p:cNvPr name="Group 4" id="4"/>
          <p:cNvGrpSpPr/>
          <p:nvPr/>
        </p:nvGrpSpPr>
        <p:grpSpPr>
          <a:xfrm rot="0">
            <a:off x="823608" y="549069"/>
            <a:ext cx="1400127" cy="411804"/>
            <a:chOff x="0" y="0"/>
            <a:chExt cx="1866836" cy="549072"/>
          </a:xfrm>
        </p:grpSpPr>
        <p:sp>
          <p:nvSpPr>
            <p:cNvPr name="Freeform 5" id="5"/>
            <p:cNvSpPr/>
            <p:nvPr/>
          </p:nvSpPr>
          <p:spPr>
            <a:xfrm flipH="false" flipV="false" rot="0">
              <a:off x="0" y="0"/>
              <a:ext cx="1866900" cy="549148"/>
            </a:xfrm>
            <a:custGeom>
              <a:avLst/>
              <a:gdLst/>
              <a:ahLst/>
              <a:cxnLst/>
              <a:rect r="r" b="b" t="t" l="l"/>
              <a:pathLst>
                <a:path h="549148" w="1866900">
                  <a:moveTo>
                    <a:pt x="0" y="274574"/>
                  </a:moveTo>
                  <a:cubicBezTo>
                    <a:pt x="0" y="122936"/>
                    <a:pt x="122936" y="0"/>
                    <a:pt x="274574" y="0"/>
                  </a:cubicBezTo>
                  <a:lnTo>
                    <a:pt x="1592326" y="0"/>
                  </a:lnTo>
                  <a:cubicBezTo>
                    <a:pt x="1743964" y="0"/>
                    <a:pt x="1866900" y="122936"/>
                    <a:pt x="1866900" y="274574"/>
                  </a:cubicBezTo>
                  <a:cubicBezTo>
                    <a:pt x="1866900" y="426212"/>
                    <a:pt x="1743964" y="549148"/>
                    <a:pt x="1592326" y="549148"/>
                  </a:cubicBezTo>
                  <a:lnTo>
                    <a:pt x="274574" y="549148"/>
                  </a:lnTo>
                  <a:cubicBezTo>
                    <a:pt x="122936" y="549021"/>
                    <a:pt x="0" y="426212"/>
                    <a:pt x="0" y="274574"/>
                  </a:cubicBezTo>
                  <a:close/>
                </a:path>
              </a:pathLst>
            </a:custGeom>
            <a:solidFill>
              <a:srgbClr val="333D55"/>
            </a:solidFill>
          </p:spPr>
        </p:sp>
        <p:sp>
          <p:nvSpPr>
            <p:cNvPr name="TextBox 6" id="6"/>
            <p:cNvSpPr txBox="true"/>
            <p:nvPr/>
          </p:nvSpPr>
          <p:spPr>
            <a:xfrm>
              <a:off x="0" y="-28575"/>
              <a:ext cx="1866836" cy="577647"/>
            </a:xfrm>
            <a:prstGeom prst="rect">
              <a:avLst/>
            </a:prstGeom>
          </p:spPr>
          <p:txBody>
            <a:bodyPr anchor="ctr" rtlCol="false" tIns="50800" lIns="50800" bIns="50800" rIns="50800"/>
            <a:lstStyle/>
            <a:p>
              <a:pPr algn="ctr">
                <a:lnSpc>
                  <a:spcPts val="1621"/>
                </a:lnSpc>
              </a:pPr>
              <a:r>
                <a:rPr lang="en-US" sz="1351" b="true">
                  <a:solidFill>
                    <a:srgbClr val="99A0B0"/>
                  </a:solidFill>
                  <a:latin typeface="Calibri (MS) Bold"/>
                  <a:ea typeface="Calibri (MS) Bold"/>
                  <a:cs typeface="Calibri (MS) Bold"/>
                  <a:sym typeface="Calibri (MS) Bold"/>
                </a:rPr>
                <a:t>SLIDE 05</a:t>
              </a:r>
            </a:p>
          </p:txBody>
        </p:sp>
      </p:grpSp>
      <p:sp>
        <p:nvSpPr>
          <p:cNvPr name="TextBox 7" id="7"/>
          <p:cNvSpPr txBox="true"/>
          <p:nvPr/>
        </p:nvSpPr>
        <p:spPr>
          <a:xfrm rot="0">
            <a:off x="915048" y="989495"/>
            <a:ext cx="10798502" cy="817893"/>
          </a:xfrm>
          <a:prstGeom prst="rect">
            <a:avLst/>
          </a:prstGeom>
        </p:spPr>
        <p:txBody>
          <a:bodyPr anchor="t" rtlCol="false" tIns="0" lIns="0" bIns="0" rIns="0">
            <a:spAutoFit/>
          </a:bodyPr>
          <a:lstStyle/>
          <a:p>
            <a:pPr algn="l">
              <a:lnSpc>
                <a:spcPts val="5764"/>
              </a:lnSpc>
            </a:pPr>
            <a:r>
              <a:rPr lang="en-US" sz="4803" b="true">
                <a:solidFill>
                  <a:srgbClr val="EEEEF0"/>
                </a:solidFill>
                <a:latin typeface="Calibri (MS) Bold"/>
                <a:ea typeface="Calibri (MS) Bold"/>
                <a:cs typeface="Calibri (MS) Bold"/>
                <a:sym typeface="Calibri (MS) Bold"/>
              </a:rPr>
              <a:t>Tech Stack &amp; Tooling</a:t>
            </a:r>
          </a:p>
        </p:txBody>
      </p:sp>
      <p:grpSp>
        <p:nvGrpSpPr>
          <p:cNvPr name="Group 8" id="8"/>
          <p:cNvGrpSpPr/>
          <p:nvPr/>
        </p:nvGrpSpPr>
        <p:grpSpPr>
          <a:xfrm rot="0">
            <a:off x="823608" y="1853108"/>
            <a:ext cx="3431677" cy="38129"/>
            <a:chOff x="0" y="0"/>
            <a:chExt cx="4575569" cy="50838"/>
          </a:xfrm>
        </p:grpSpPr>
        <p:sp>
          <p:nvSpPr>
            <p:cNvPr name="Freeform 9" id="9"/>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grpSp>
        <p:nvGrpSpPr>
          <p:cNvPr name="Group 10" id="10"/>
          <p:cNvGrpSpPr/>
          <p:nvPr/>
        </p:nvGrpSpPr>
        <p:grpSpPr>
          <a:xfrm rot="0">
            <a:off x="814073" y="2324014"/>
            <a:ext cx="5097951" cy="3176216"/>
            <a:chOff x="0" y="0"/>
            <a:chExt cx="6797269" cy="4234955"/>
          </a:xfrm>
        </p:grpSpPr>
        <p:sp>
          <p:nvSpPr>
            <p:cNvPr name="Freeform 11" id="11"/>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12" id="12"/>
          <p:cNvSpPr txBox="true"/>
          <p:nvPr/>
        </p:nvSpPr>
        <p:spPr>
          <a:xfrm rot="0">
            <a:off x="1120940" y="2449859"/>
            <a:ext cx="503453" cy="661568"/>
          </a:xfrm>
          <a:prstGeom prst="rect">
            <a:avLst/>
          </a:prstGeom>
        </p:spPr>
        <p:txBody>
          <a:bodyPr anchor="t" rtlCol="false" tIns="0" lIns="0" bIns="0" rIns="0">
            <a:spAutoFit/>
          </a:bodyPr>
          <a:lstStyle/>
          <a:p>
            <a:pPr algn="l">
              <a:lnSpc>
                <a:spcPts val="3963"/>
              </a:lnSpc>
            </a:pPr>
            <a:r>
              <a:rPr lang="en-US" sz="3302">
                <a:solidFill>
                  <a:srgbClr val="00F0C8"/>
                </a:solidFill>
                <a:latin typeface="Calibri (MS)"/>
                <a:ea typeface="Calibri (MS)"/>
                <a:cs typeface="Calibri (MS)"/>
                <a:sym typeface="Calibri (MS)"/>
              </a:rPr>
              <a:t>🖥️</a:t>
            </a:r>
          </a:p>
        </p:txBody>
      </p:sp>
      <p:sp>
        <p:nvSpPr>
          <p:cNvPr name="TextBox 13" id="13"/>
          <p:cNvSpPr txBox="true"/>
          <p:nvPr/>
        </p:nvSpPr>
        <p:spPr>
          <a:xfrm rot="0">
            <a:off x="1120940" y="3017977"/>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Frontend</a:t>
            </a:r>
          </a:p>
        </p:txBody>
      </p:sp>
      <p:sp>
        <p:nvSpPr>
          <p:cNvPr name="TextBox 14" id="14"/>
          <p:cNvSpPr txBox="true"/>
          <p:nvPr/>
        </p:nvSpPr>
        <p:spPr>
          <a:xfrm rot="0">
            <a:off x="1120940" y="3479359"/>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HTML5 / CSS3 / JavaScript</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Responsive mobile-first design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html5-qrcode for camera QR scanning</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Chart.js for risk score visualization</a:t>
            </a:r>
          </a:p>
        </p:txBody>
      </p:sp>
      <p:grpSp>
        <p:nvGrpSpPr>
          <p:cNvPr name="Group 15" id="15"/>
          <p:cNvGrpSpPr/>
          <p:nvPr/>
        </p:nvGrpSpPr>
        <p:grpSpPr>
          <a:xfrm rot="0">
            <a:off x="6167495" y="2324014"/>
            <a:ext cx="5097951" cy="3176216"/>
            <a:chOff x="0" y="0"/>
            <a:chExt cx="6797269" cy="4234955"/>
          </a:xfrm>
        </p:grpSpPr>
        <p:sp>
          <p:nvSpPr>
            <p:cNvPr name="Freeform 16" id="16"/>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17" id="17"/>
          <p:cNvSpPr txBox="true"/>
          <p:nvPr/>
        </p:nvSpPr>
        <p:spPr>
          <a:xfrm rot="0">
            <a:off x="6474371" y="2449859"/>
            <a:ext cx="503453" cy="661568"/>
          </a:xfrm>
          <a:prstGeom prst="rect">
            <a:avLst/>
          </a:prstGeom>
        </p:spPr>
        <p:txBody>
          <a:bodyPr anchor="t" rtlCol="false" tIns="0" lIns="0" bIns="0" rIns="0">
            <a:spAutoFit/>
          </a:bodyPr>
          <a:lstStyle/>
          <a:p>
            <a:pPr algn="l">
              <a:lnSpc>
                <a:spcPts val="3963"/>
              </a:lnSpc>
            </a:pPr>
            <a:r>
              <a:rPr lang="en-US" sz="3302">
                <a:solidFill>
                  <a:srgbClr val="009EFF"/>
                </a:solidFill>
                <a:latin typeface="Calibri (MS)"/>
                <a:ea typeface="Calibri (MS)"/>
                <a:cs typeface="Calibri (MS)"/>
                <a:sym typeface="Calibri (MS)"/>
              </a:rPr>
              <a:t>⚙️</a:t>
            </a:r>
          </a:p>
        </p:txBody>
      </p:sp>
      <p:sp>
        <p:nvSpPr>
          <p:cNvPr name="TextBox 18" id="18"/>
          <p:cNvSpPr txBox="true"/>
          <p:nvPr/>
        </p:nvSpPr>
        <p:spPr>
          <a:xfrm rot="0">
            <a:off x="6474371" y="3017977"/>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Backend</a:t>
            </a:r>
          </a:p>
        </p:txBody>
      </p:sp>
      <p:sp>
        <p:nvSpPr>
          <p:cNvPr name="TextBox 19" id="19"/>
          <p:cNvSpPr txBox="true"/>
          <p:nvPr/>
        </p:nvSpPr>
        <p:spPr>
          <a:xfrm rot="0">
            <a:off x="6474371" y="3479359"/>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Python (Flask) — REST API</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python-whois for domain lookups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requests + ssl module for cert checks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Regex engine for URL pattern matching</a:t>
            </a:r>
          </a:p>
        </p:txBody>
      </p:sp>
      <p:grpSp>
        <p:nvGrpSpPr>
          <p:cNvPr name="Group 20" id="20"/>
          <p:cNvGrpSpPr/>
          <p:nvPr/>
        </p:nvGrpSpPr>
        <p:grpSpPr>
          <a:xfrm rot="0">
            <a:off x="11520916" y="2324014"/>
            <a:ext cx="5097951" cy="3176216"/>
            <a:chOff x="0" y="0"/>
            <a:chExt cx="6797269" cy="4234955"/>
          </a:xfrm>
        </p:grpSpPr>
        <p:sp>
          <p:nvSpPr>
            <p:cNvPr name="Freeform 21" id="21"/>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22" id="22"/>
          <p:cNvSpPr txBox="true"/>
          <p:nvPr/>
        </p:nvSpPr>
        <p:spPr>
          <a:xfrm rot="0">
            <a:off x="11827793" y="2449859"/>
            <a:ext cx="503453" cy="661568"/>
          </a:xfrm>
          <a:prstGeom prst="rect">
            <a:avLst/>
          </a:prstGeom>
        </p:spPr>
        <p:txBody>
          <a:bodyPr anchor="t" rtlCol="false" tIns="0" lIns="0" bIns="0" rIns="0">
            <a:spAutoFit/>
          </a:bodyPr>
          <a:lstStyle/>
          <a:p>
            <a:pPr algn="l">
              <a:lnSpc>
                <a:spcPts val="3963"/>
              </a:lnSpc>
            </a:pPr>
            <a:r>
              <a:rPr lang="en-US" sz="3302">
                <a:solidFill>
                  <a:srgbClr val="00E676"/>
                </a:solidFill>
                <a:latin typeface="Calibri (MS)"/>
                <a:ea typeface="Calibri (MS)"/>
                <a:cs typeface="Calibri (MS)"/>
                <a:sym typeface="Calibri (MS)"/>
              </a:rPr>
              <a:t>🧠</a:t>
            </a:r>
          </a:p>
        </p:txBody>
      </p:sp>
      <p:sp>
        <p:nvSpPr>
          <p:cNvPr name="TextBox 23" id="23"/>
          <p:cNvSpPr txBox="true"/>
          <p:nvPr/>
        </p:nvSpPr>
        <p:spPr>
          <a:xfrm rot="0">
            <a:off x="11827793" y="3017977"/>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AI / NLP Engine</a:t>
            </a:r>
          </a:p>
        </p:txBody>
      </p:sp>
      <p:sp>
        <p:nvSpPr>
          <p:cNvPr name="TextBox 24" id="24"/>
          <p:cNvSpPr txBox="true"/>
          <p:nvPr/>
        </p:nvSpPr>
        <p:spPr>
          <a:xfrm rot="0">
            <a:off x="11827793" y="3479359"/>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Gemini API for message analysis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Zero-shot scam classification</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Urgency &amp; impersonation scoring</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Hindi + English multilingual support</a:t>
            </a:r>
          </a:p>
        </p:txBody>
      </p:sp>
      <p:grpSp>
        <p:nvGrpSpPr>
          <p:cNvPr name="Group 25" id="25"/>
          <p:cNvGrpSpPr/>
          <p:nvPr/>
        </p:nvGrpSpPr>
        <p:grpSpPr>
          <a:xfrm rot="0">
            <a:off x="814073" y="5755691"/>
            <a:ext cx="5097951" cy="3176216"/>
            <a:chOff x="0" y="0"/>
            <a:chExt cx="6797269" cy="4234955"/>
          </a:xfrm>
        </p:grpSpPr>
        <p:sp>
          <p:nvSpPr>
            <p:cNvPr name="Freeform 26" id="26"/>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27" id="27"/>
          <p:cNvSpPr txBox="true"/>
          <p:nvPr/>
        </p:nvSpPr>
        <p:spPr>
          <a:xfrm rot="0">
            <a:off x="1120940" y="5881535"/>
            <a:ext cx="503453" cy="661568"/>
          </a:xfrm>
          <a:prstGeom prst="rect">
            <a:avLst/>
          </a:prstGeom>
        </p:spPr>
        <p:txBody>
          <a:bodyPr anchor="t" rtlCol="false" tIns="0" lIns="0" bIns="0" rIns="0">
            <a:spAutoFit/>
          </a:bodyPr>
          <a:lstStyle/>
          <a:p>
            <a:pPr algn="l">
              <a:lnSpc>
                <a:spcPts val="3963"/>
              </a:lnSpc>
            </a:pPr>
            <a:r>
              <a:rPr lang="en-US" sz="3302">
                <a:solidFill>
                  <a:srgbClr val="FFD600"/>
                </a:solidFill>
                <a:latin typeface="Calibri (MS)"/>
                <a:ea typeface="Calibri (MS)"/>
                <a:cs typeface="Calibri (MS)"/>
                <a:sym typeface="Calibri (MS)"/>
              </a:rPr>
              <a:t>🔌</a:t>
            </a:r>
          </a:p>
        </p:txBody>
      </p:sp>
      <p:sp>
        <p:nvSpPr>
          <p:cNvPr name="TextBox 28" id="28"/>
          <p:cNvSpPr txBox="true"/>
          <p:nvPr/>
        </p:nvSpPr>
        <p:spPr>
          <a:xfrm rot="0">
            <a:off x="1120940" y="6449654"/>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External APIs</a:t>
            </a:r>
          </a:p>
        </p:txBody>
      </p:sp>
      <p:sp>
        <p:nvSpPr>
          <p:cNvPr name="TextBox 29" id="29"/>
          <p:cNvSpPr txBox="true"/>
          <p:nvPr/>
        </p:nvSpPr>
        <p:spPr>
          <a:xfrm rot="0">
            <a:off x="1120940" y="6911045"/>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Google Safe Browsing Lookup API</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WHOIS API for domain age</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SSL Labs / cert transparency</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VirusTotal (optional enrichment)</a:t>
            </a:r>
          </a:p>
        </p:txBody>
      </p:sp>
      <p:grpSp>
        <p:nvGrpSpPr>
          <p:cNvPr name="Group 30" id="30"/>
          <p:cNvGrpSpPr/>
          <p:nvPr/>
        </p:nvGrpSpPr>
        <p:grpSpPr>
          <a:xfrm rot="0">
            <a:off x="6167495" y="5755691"/>
            <a:ext cx="5097951" cy="3176216"/>
            <a:chOff x="0" y="0"/>
            <a:chExt cx="6797269" cy="4234955"/>
          </a:xfrm>
        </p:grpSpPr>
        <p:sp>
          <p:nvSpPr>
            <p:cNvPr name="Freeform 31" id="31"/>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32" id="32"/>
          <p:cNvSpPr txBox="true"/>
          <p:nvPr/>
        </p:nvSpPr>
        <p:spPr>
          <a:xfrm rot="0">
            <a:off x="6474371" y="5881535"/>
            <a:ext cx="503453" cy="661568"/>
          </a:xfrm>
          <a:prstGeom prst="rect">
            <a:avLst/>
          </a:prstGeom>
        </p:spPr>
        <p:txBody>
          <a:bodyPr anchor="t" rtlCol="false" tIns="0" lIns="0" bIns="0" rIns="0">
            <a:spAutoFit/>
          </a:bodyPr>
          <a:lstStyle/>
          <a:p>
            <a:pPr algn="l">
              <a:lnSpc>
                <a:spcPts val="3963"/>
              </a:lnSpc>
            </a:pPr>
            <a:r>
              <a:rPr lang="en-US" sz="3302">
                <a:solidFill>
                  <a:srgbClr val="FF3B5C"/>
                </a:solidFill>
                <a:latin typeface="Calibri (MS)"/>
                <a:ea typeface="Calibri (MS)"/>
                <a:cs typeface="Calibri (MS)"/>
                <a:sym typeface="Calibri (MS)"/>
              </a:rPr>
              <a:t>🛡️</a:t>
            </a:r>
          </a:p>
        </p:txBody>
      </p:sp>
      <p:sp>
        <p:nvSpPr>
          <p:cNvPr name="TextBox 33" id="33"/>
          <p:cNvSpPr txBox="true"/>
          <p:nvPr/>
        </p:nvSpPr>
        <p:spPr>
          <a:xfrm rot="0">
            <a:off x="6474371" y="6449654"/>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Security &amp; Zero-Trust</a:t>
            </a:r>
          </a:p>
        </p:txBody>
      </p:sp>
      <p:sp>
        <p:nvSpPr>
          <p:cNvPr name="TextBox 34" id="34"/>
          <p:cNvSpPr txBox="true"/>
          <p:nvPr/>
        </p:nvSpPr>
        <p:spPr>
          <a:xfrm rot="0">
            <a:off x="6474371" y="6911045"/>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All links assumed hostile by default</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No user data stored or logged</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Sandboxed URL analysis (no click-through)</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CORS-restricted API endpoints</a:t>
            </a:r>
          </a:p>
        </p:txBody>
      </p:sp>
      <p:grpSp>
        <p:nvGrpSpPr>
          <p:cNvPr name="Group 35" id="35"/>
          <p:cNvGrpSpPr/>
          <p:nvPr/>
        </p:nvGrpSpPr>
        <p:grpSpPr>
          <a:xfrm rot="0">
            <a:off x="11520916" y="5755691"/>
            <a:ext cx="5097951" cy="3176216"/>
            <a:chOff x="0" y="0"/>
            <a:chExt cx="6797269" cy="4234955"/>
          </a:xfrm>
        </p:grpSpPr>
        <p:sp>
          <p:nvSpPr>
            <p:cNvPr name="Freeform 36" id="36"/>
            <p:cNvSpPr/>
            <p:nvPr/>
          </p:nvSpPr>
          <p:spPr>
            <a:xfrm flipH="false" flipV="false" rot="0">
              <a:off x="0" y="0"/>
              <a:ext cx="6797294" cy="4234942"/>
            </a:xfrm>
            <a:custGeom>
              <a:avLst/>
              <a:gdLst/>
              <a:ahLst/>
              <a:cxnLst/>
              <a:rect r="r" b="b" t="t" l="l"/>
              <a:pathLst>
                <a:path h="4234942" w="6797294">
                  <a:moveTo>
                    <a:pt x="0" y="211709"/>
                  </a:moveTo>
                  <a:cubicBezTo>
                    <a:pt x="0" y="94742"/>
                    <a:pt x="94742" y="0"/>
                    <a:pt x="211709" y="0"/>
                  </a:cubicBezTo>
                  <a:lnTo>
                    <a:pt x="6585585" y="0"/>
                  </a:lnTo>
                  <a:cubicBezTo>
                    <a:pt x="6702552" y="0"/>
                    <a:pt x="6797294" y="94742"/>
                    <a:pt x="6797294" y="211709"/>
                  </a:cubicBezTo>
                  <a:lnTo>
                    <a:pt x="6797294" y="4023233"/>
                  </a:lnTo>
                  <a:cubicBezTo>
                    <a:pt x="6797294" y="4140200"/>
                    <a:pt x="6702552" y="4234942"/>
                    <a:pt x="6585585" y="4234942"/>
                  </a:cubicBezTo>
                  <a:lnTo>
                    <a:pt x="211709" y="4234942"/>
                  </a:lnTo>
                  <a:cubicBezTo>
                    <a:pt x="94742" y="4234942"/>
                    <a:pt x="0" y="4140200"/>
                    <a:pt x="0" y="4023233"/>
                  </a:cubicBezTo>
                  <a:close/>
                </a:path>
              </a:pathLst>
            </a:custGeom>
            <a:solidFill>
              <a:srgbClr val="111622"/>
            </a:solidFill>
            <a:ln w="19065" cap="sq">
              <a:solidFill>
                <a:srgbClr val="222A3A"/>
              </a:solidFill>
              <a:prstDash val="solid"/>
              <a:miter/>
            </a:ln>
          </p:spPr>
        </p:sp>
      </p:grpSp>
      <p:sp>
        <p:nvSpPr>
          <p:cNvPr name="TextBox 37" id="37"/>
          <p:cNvSpPr txBox="true"/>
          <p:nvPr/>
        </p:nvSpPr>
        <p:spPr>
          <a:xfrm rot="0">
            <a:off x="11827793" y="5881535"/>
            <a:ext cx="503453" cy="661568"/>
          </a:xfrm>
          <a:prstGeom prst="rect">
            <a:avLst/>
          </a:prstGeom>
        </p:spPr>
        <p:txBody>
          <a:bodyPr anchor="t" rtlCol="false" tIns="0" lIns="0" bIns="0" rIns="0">
            <a:spAutoFit/>
          </a:bodyPr>
          <a:lstStyle/>
          <a:p>
            <a:pPr algn="l">
              <a:lnSpc>
                <a:spcPts val="3963"/>
              </a:lnSpc>
            </a:pPr>
            <a:r>
              <a:rPr lang="en-US" sz="3302">
                <a:solidFill>
                  <a:srgbClr val="AA88FF"/>
                </a:solidFill>
                <a:latin typeface="Calibri (MS)"/>
                <a:ea typeface="Calibri (MS)"/>
                <a:cs typeface="Calibri (MS)"/>
                <a:sym typeface="Calibri (MS)"/>
              </a:rPr>
              <a:t>🧪</a:t>
            </a:r>
          </a:p>
        </p:txBody>
      </p:sp>
      <p:sp>
        <p:nvSpPr>
          <p:cNvPr name="TextBox 38" id="38"/>
          <p:cNvSpPr txBox="true"/>
          <p:nvPr/>
        </p:nvSpPr>
        <p:spPr>
          <a:xfrm rot="0">
            <a:off x="11827793" y="6449654"/>
            <a:ext cx="4484208" cy="436616"/>
          </a:xfrm>
          <a:prstGeom prst="rect">
            <a:avLst/>
          </a:prstGeom>
        </p:spPr>
        <p:txBody>
          <a:bodyPr anchor="t" rtlCol="false" tIns="0" lIns="0" bIns="0" rIns="0">
            <a:spAutoFit/>
          </a:bodyPr>
          <a:lstStyle/>
          <a:p>
            <a:pPr algn="l">
              <a:lnSpc>
                <a:spcPts val="2521"/>
              </a:lnSpc>
            </a:pPr>
            <a:r>
              <a:rPr lang="en-US" sz="2101" b="true">
                <a:solidFill>
                  <a:srgbClr val="EEEEF0"/>
                </a:solidFill>
                <a:latin typeface="Calibri (MS) Bold"/>
                <a:ea typeface="Calibri (MS) Bold"/>
                <a:cs typeface="Calibri (MS) Bold"/>
                <a:sym typeface="Calibri (MS) Bold"/>
              </a:rPr>
              <a:t>Testing &amp; Data</a:t>
            </a:r>
          </a:p>
        </p:txBody>
      </p:sp>
      <p:sp>
        <p:nvSpPr>
          <p:cNvPr name="TextBox 39" id="39"/>
          <p:cNvSpPr txBox="true"/>
          <p:nvPr/>
        </p:nvSpPr>
        <p:spPr>
          <a:xfrm rot="0">
            <a:off x="11827793" y="6911045"/>
            <a:ext cx="4484208" cy="1759706"/>
          </a:xfrm>
          <a:prstGeom prst="rect">
            <a:avLst/>
          </a:prstGeom>
        </p:spPr>
        <p:txBody>
          <a:bodyPr anchor="t" rtlCol="false" tIns="0" lIns="0" bIns="0" rIns="0">
            <a:spAutoFit/>
          </a:bodyPr>
          <a:lstStyle/>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Curated dataset: 50 scam + 50 legit URLs</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Sample phishing SMS corpus (Hindi/Eng)</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Side-by-side comparison demo mode</a:t>
            </a:r>
          </a:p>
          <a:p>
            <a:pPr algn="l">
              <a:lnSpc>
                <a:spcPts val="2161"/>
              </a:lnSpc>
            </a:pPr>
            <a:r>
              <a:rPr lang="en-US" sz="1501" b="true">
                <a:solidFill>
                  <a:srgbClr val="00F0C8"/>
                </a:solidFill>
                <a:latin typeface="Calibri (MS) Bold"/>
                <a:ea typeface="Calibri (MS) Bold"/>
                <a:cs typeface="Calibri (MS) Bold"/>
                <a:sym typeface="Calibri (MS) Bold"/>
              </a:rPr>
              <a:t>▸ </a:t>
            </a:r>
            <a:r>
              <a:rPr lang="en-US" sz="1501">
                <a:solidFill>
                  <a:srgbClr val="99A0B0"/>
                </a:solidFill>
                <a:latin typeface="Calibri (MS)"/>
                <a:ea typeface="Calibri (MS)"/>
                <a:cs typeface="Calibri (MS)"/>
                <a:sym typeface="Calibri (MS)"/>
              </a:rPr>
              <a:t>Confusion matrix &amp; accuracy metrics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grpSp>
        <p:nvGrpSpPr>
          <p:cNvPr name="Group 4" id="4"/>
          <p:cNvGrpSpPr/>
          <p:nvPr/>
        </p:nvGrpSpPr>
        <p:grpSpPr>
          <a:xfrm rot="0">
            <a:off x="823608" y="549069"/>
            <a:ext cx="1400127" cy="411804"/>
            <a:chOff x="0" y="0"/>
            <a:chExt cx="1866836" cy="549072"/>
          </a:xfrm>
        </p:grpSpPr>
        <p:sp>
          <p:nvSpPr>
            <p:cNvPr name="Freeform 5" id="5"/>
            <p:cNvSpPr/>
            <p:nvPr/>
          </p:nvSpPr>
          <p:spPr>
            <a:xfrm flipH="false" flipV="false" rot="0">
              <a:off x="0" y="0"/>
              <a:ext cx="1866900" cy="549148"/>
            </a:xfrm>
            <a:custGeom>
              <a:avLst/>
              <a:gdLst/>
              <a:ahLst/>
              <a:cxnLst/>
              <a:rect r="r" b="b" t="t" l="l"/>
              <a:pathLst>
                <a:path h="549148" w="1866900">
                  <a:moveTo>
                    <a:pt x="0" y="274574"/>
                  </a:moveTo>
                  <a:cubicBezTo>
                    <a:pt x="0" y="122936"/>
                    <a:pt x="122936" y="0"/>
                    <a:pt x="274574" y="0"/>
                  </a:cubicBezTo>
                  <a:lnTo>
                    <a:pt x="1592326" y="0"/>
                  </a:lnTo>
                  <a:cubicBezTo>
                    <a:pt x="1743964" y="0"/>
                    <a:pt x="1866900" y="122936"/>
                    <a:pt x="1866900" y="274574"/>
                  </a:cubicBezTo>
                  <a:cubicBezTo>
                    <a:pt x="1866900" y="426212"/>
                    <a:pt x="1743964" y="549148"/>
                    <a:pt x="1592326" y="549148"/>
                  </a:cubicBezTo>
                  <a:lnTo>
                    <a:pt x="274574" y="549148"/>
                  </a:lnTo>
                  <a:cubicBezTo>
                    <a:pt x="122936" y="549021"/>
                    <a:pt x="0" y="426212"/>
                    <a:pt x="0" y="274574"/>
                  </a:cubicBezTo>
                  <a:close/>
                </a:path>
              </a:pathLst>
            </a:custGeom>
            <a:solidFill>
              <a:srgbClr val="333D55"/>
            </a:solidFill>
          </p:spPr>
        </p:sp>
        <p:sp>
          <p:nvSpPr>
            <p:cNvPr name="TextBox 6" id="6"/>
            <p:cNvSpPr txBox="true"/>
            <p:nvPr/>
          </p:nvSpPr>
          <p:spPr>
            <a:xfrm>
              <a:off x="0" y="-28575"/>
              <a:ext cx="1866836" cy="577647"/>
            </a:xfrm>
            <a:prstGeom prst="rect">
              <a:avLst/>
            </a:prstGeom>
          </p:spPr>
          <p:txBody>
            <a:bodyPr anchor="ctr" rtlCol="false" tIns="50800" lIns="50800" bIns="50800" rIns="50800"/>
            <a:lstStyle/>
            <a:p>
              <a:pPr algn="ctr">
                <a:lnSpc>
                  <a:spcPts val="1621"/>
                </a:lnSpc>
              </a:pPr>
              <a:r>
                <a:rPr lang="en-US" sz="1351" b="true">
                  <a:solidFill>
                    <a:srgbClr val="99A0B0"/>
                  </a:solidFill>
                  <a:latin typeface="Calibri (MS) Bold"/>
                  <a:ea typeface="Calibri (MS) Bold"/>
                  <a:cs typeface="Calibri (MS) Bold"/>
                  <a:sym typeface="Calibri (MS) Bold"/>
                </a:rPr>
                <a:t>SLIDE 06</a:t>
              </a:r>
            </a:p>
          </p:txBody>
        </p:sp>
      </p:grpSp>
      <p:sp>
        <p:nvSpPr>
          <p:cNvPr name="TextBox 7" id="7"/>
          <p:cNvSpPr txBox="true"/>
          <p:nvPr/>
        </p:nvSpPr>
        <p:spPr>
          <a:xfrm rot="0">
            <a:off x="915048" y="989495"/>
            <a:ext cx="10798502" cy="817893"/>
          </a:xfrm>
          <a:prstGeom prst="rect">
            <a:avLst/>
          </a:prstGeom>
        </p:spPr>
        <p:txBody>
          <a:bodyPr anchor="t" rtlCol="false" tIns="0" lIns="0" bIns="0" rIns="0">
            <a:spAutoFit/>
          </a:bodyPr>
          <a:lstStyle/>
          <a:p>
            <a:pPr algn="l">
              <a:lnSpc>
                <a:spcPts val="5764"/>
              </a:lnSpc>
            </a:pPr>
            <a:r>
              <a:rPr lang="en-US" sz="4803" b="true">
                <a:solidFill>
                  <a:srgbClr val="EEEEF0"/>
                </a:solidFill>
                <a:latin typeface="Calibri (MS) Bold"/>
                <a:ea typeface="Calibri (MS) Bold"/>
                <a:cs typeface="Calibri (MS) Bold"/>
                <a:sym typeface="Calibri (MS) Bold"/>
              </a:rPr>
              <a:t>Testing Strategy &amp; Demo Plan</a:t>
            </a:r>
          </a:p>
        </p:txBody>
      </p:sp>
      <p:grpSp>
        <p:nvGrpSpPr>
          <p:cNvPr name="Group 8" id="8"/>
          <p:cNvGrpSpPr/>
          <p:nvPr/>
        </p:nvGrpSpPr>
        <p:grpSpPr>
          <a:xfrm rot="0">
            <a:off x="823608" y="1853108"/>
            <a:ext cx="3431677" cy="38129"/>
            <a:chOff x="0" y="0"/>
            <a:chExt cx="4575569" cy="50838"/>
          </a:xfrm>
        </p:grpSpPr>
        <p:sp>
          <p:nvSpPr>
            <p:cNvPr name="Freeform 9" id="9"/>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grpSp>
        <p:nvGrpSpPr>
          <p:cNvPr name="Group 10" id="10"/>
          <p:cNvGrpSpPr/>
          <p:nvPr/>
        </p:nvGrpSpPr>
        <p:grpSpPr>
          <a:xfrm rot="0">
            <a:off x="823608" y="2333539"/>
            <a:ext cx="16197539" cy="686333"/>
            <a:chOff x="0" y="0"/>
            <a:chExt cx="21596718" cy="915111"/>
          </a:xfrm>
        </p:grpSpPr>
        <p:sp>
          <p:nvSpPr>
            <p:cNvPr name="Freeform 11" id="11"/>
            <p:cNvSpPr/>
            <p:nvPr/>
          </p:nvSpPr>
          <p:spPr>
            <a:xfrm flipH="false" flipV="false" rot="0">
              <a:off x="0" y="0"/>
              <a:ext cx="21596731" cy="915035"/>
            </a:xfrm>
            <a:custGeom>
              <a:avLst/>
              <a:gdLst/>
              <a:ahLst/>
              <a:cxnLst/>
              <a:rect r="r" b="b" t="t" l="l"/>
              <a:pathLst>
                <a:path h="915035" w="21596731">
                  <a:moveTo>
                    <a:pt x="0" y="45720"/>
                  </a:moveTo>
                  <a:cubicBezTo>
                    <a:pt x="0" y="20447"/>
                    <a:pt x="20447" y="0"/>
                    <a:pt x="45720" y="0"/>
                  </a:cubicBezTo>
                  <a:lnTo>
                    <a:pt x="21551012" y="0"/>
                  </a:lnTo>
                  <a:cubicBezTo>
                    <a:pt x="21576285" y="0"/>
                    <a:pt x="21596731" y="20447"/>
                    <a:pt x="21596731" y="45720"/>
                  </a:cubicBezTo>
                  <a:lnTo>
                    <a:pt x="21596731" y="869315"/>
                  </a:lnTo>
                  <a:cubicBezTo>
                    <a:pt x="21596731" y="894588"/>
                    <a:pt x="21576285" y="915035"/>
                    <a:pt x="21551012" y="915035"/>
                  </a:cubicBezTo>
                  <a:lnTo>
                    <a:pt x="45720" y="915035"/>
                  </a:lnTo>
                  <a:cubicBezTo>
                    <a:pt x="20447" y="915035"/>
                    <a:pt x="0" y="894588"/>
                    <a:pt x="0" y="869315"/>
                  </a:cubicBezTo>
                  <a:close/>
                </a:path>
              </a:pathLst>
            </a:custGeom>
            <a:solidFill>
              <a:srgbClr val="00F0C8"/>
            </a:solidFill>
          </p:spPr>
        </p:sp>
      </p:grpSp>
      <p:sp>
        <p:nvSpPr>
          <p:cNvPr name="TextBox 12" id="12"/>
          <p:cNvSpPr txBox="true"/>
          <p:nvPr/>
        </p:nvSpPr>
        <p:spPr>
          <a:xfrm rot="0">
            <a:off x="1052312" y="2409796"/>
            <a:ext cx="5307806" cy="495729"/>
          </a:xfrm>
          <a:prstGeom prst="rect">
            <a:avLst/>
          </a:prstGeom>
        </p:spPr>
        <p:txBody>
          <a:bodyPr anchor="t" rtlCol="false" tIns="0" lIns="0" bIns="0" rIns="0">
            <a:spAutoFit/>
          </a:bodyPr>
          <a:lstStyle/>
          <a:p>
            <a:pPr algn="l">
              <a:lnSpc>
                <a:spcPts val="2161"/>
              </a:lnSpc>
            </a:pPr>
            <a:r>
              <a:rPr lang="en-US" sz="1801" b="true">
                <a:solidFill>
                  <a:srgbClr val="0B0E17"/>
                </a:solidFill>
                <a:latin typeface="Calibri (MS) Bold"/>
                <a:ea typeface="Calibri (MS) Bold"/>
                <a:cs typeface="Calibri (MS) Bold"/>
                <a:sym typeface="Calibri (MS) Bold"/>
              </a:rPr>
              <a:t>Test Case</a:t>
            </a:r>
          </a:p>
        </p:txBody>
      </p:sp>
      <p:sp>
        <p:nvSpPr>
          <p:cNvPr name="TextBox 13" id="13"/>
          <p:cNvSpPr txBox="true"/>
          <p:nvPr/>
        </p:nvSpPr>
        <p:spPr>
          <a:xfrm rot="0">
            <a:off x="6542999" y="2409796"/>
            <a:ext cx="2837002" cy="495729"/>
          </a:xfrm>
          <a:prstGeom prst="rect">
            <a:avLst/>
          </a:prstGeom>
        </p:spPr>
        <p:txBody>
          <a:bodyPr anchor="t" rtlCol="false" tIns="0" lIns="0" bIns="0" rIns="0">
            <a:spAutoFit/>
          </a:bodyPr>
          <a:lstStyle/>
          <a:p>
            <a:pPr algn="l">
              <a:lnSpc>
                <a:spcPts val="2161"/>
              </a:lnSpc>
            </a:pPr>
            <a:r>
              <a:rPr lang="en-US" sz="1801" b="true">
                <a:solidFill>
                  <a:srgbClr val="0B0E17"/>
                </a:solidFill>
                <a:latin typeface="Calibri (MS) Bold"/>
                <a:ea typeface="Calibri (MS) Bold"/>
                <a:cs typeface="Calibri (MS) Bold"/>
                <a:sym typeface="Calibri (MS) Bold"/>
              </a:rPr>
              <a:t>Input Type</a:t>
            </a:r>
          </a:p>
        </p:txBody>
      </p:sp>
      <p:sp>
        <p:nvSpPr>
          <p:cNvPr name="TextBox 14" id="14"/>
          <p:cNvSpPr txBox="true"/>
          <p:nvPr/>
        </p:nvSpPr>
        <p:spPr>
          <a:xfrm rot="0">
            <a:off x="9562881" y="2409796"/>
            <a:ext cx="4758738" cy="495729"/>
          </a:xfrm>
          <a:prstGeom prst="rect">
            <a:avLst/>
          </a:prstGeom>
        </p:spPr>
        <p:txBody>
          <a:bodyPr anchor="t" rtlCol="false" tIns="0" lIns="0" bIns="0" rIns="0">
            <a:spAutoFit/>
          </a:bodyPr>
          <a:lstStyle/>
          <a:p>
            <a:pPr algn="l">
              <a:lnSpc>
                <a:spcPts val="2161"/>
              </a:lnSpc>
            </a:pPr>
            <a:r>
              <a:rPr lang="en-US" sz="1801" b="true">
                <a:solidFill>
                  <a:srgbClr val="0B0E17"/>
                </a:solidFill>
                <a:latin typeface="Calibri (MS) Bold"/>
                <a:ea typeface="Calibri (MS) Bold"/>
                <a:cs typeface="Calibri (MS) Bold"/>
                <a:sym typeface="Calibri (MS) Bold"/>
              </a:rPr>
              <a:t>Expected Result</a:t>
            </a:r>
          </a:p>
        </p:txBody>
      </p:sp>
      <p:sp>
        <p:nvSpPr>
          <p:cNvPr name="TextBox 15" id="15"/>
          <p:cNvSpPr txBox="true"/>
          <p:nvPr/>
        </p:nvSpPr>
        <p:spPr>
          <a:xfrm rot="0">
            <a:off x="14504499" y="2409796"/>
            <a:ext cx="2287934" cy="495729"/>
          </a:xfrm>
          <a:prstGeom prst="rect">
            <a:avLst/>
          </a:prstGeom>
        </p:spPr>
        <p:txBody>
          <a:bodyPr anchor="t" rtlCol="false" tIns="0" lIns="0" bIns="0" rIns="0">
            <a:spAutoFit/>
          </a:bodyPr>
          <a:lstStyle/>
          <a:p>
            <a:pPr algn="l">
              <a:lnSpc>
                <a:spcPts val="2161"/>
              </a:lnSpc>
            </a:pPr>
            <a:r>
              <a:rPr lang="en-US" sz="1801" b="true">
                <a:solidFill>
                  <a:srgbClr val="0B0E17"/>
                </a:solidFill>
                <a:latin typeface="Calibri (MS) Bold"/>
                <a:ea typeface="Calibri (MS) Bold"/>
                <a:cs typeface="Calibri (MS) Bold"/>
                <a:sym typeface="Calibri (MS) Bold"/>
              </a:rPr>
              <a:t>Status</a:t>
            </a:r>
          </a:p>
        </p:txBody>
      </p:sp>
      <p:grpSp>
        <p:nvGrpSpPr>
          <p:cNvPr name="Group 16" id="16"/>
          <p:cNvGrpSpPr/>
          <p:nvPr/>
        </p:nvGrpSpPr>
        <p:grpSpPr>
          <a:xfrm rot="0">
            <a:off x="823608" y="3088510"/>
            <a:ext cx="16197539" cy="796147"/>
            <a:chOff x="0" y="0"/>
            <a:chExt cx="21596718" cy="1061530"/>
          </a:xfrm>
        </p:grpSpPr>
        <p:sp>
          <p:nvSpPr>
            <p:cNvPr name="Freeform 17" id="17"/>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11622"/>
            </a:solidFill>
          </p:spPr>
        </p:sp>
      </p:grpSp>
      <p:sp>
        <p:nvSpPr>
          <p:cNvPr name="TextBox 18" id="18"/>
          <p:cNvSpPr txBox="true"/>
          <p:nvPr/>
        </p:nvSpPr>
        <p:spPr>
          <a:xfrm rot="0">
            <a:off x="1052312" y="3205944"/>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Legitimate SBI URL (sbi.co.in/...)</a:t>
            </a:r>
          </a:p>
        </p:txBody>
      </p:sp>
      <p:sp>
        <p:nvSpPr>
          <p:cNvPr name="TextBox 19" id="19"/>
          <p:cNvSpPr txBox="true"/>
          <p:nvPr/>
        </p:nvSpPr>
        <p:spPr>
          <a:xfrm rot="0">
            <a:off x="6542999" y="3205944"/>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URL</a:t>
            </a:r>
          </a:p>
        </p:txBody>
      </p:sp>
      <p:sp>
        <p:nvSpPr>
          <p:cNvPr name="TextBox 20" id="20"/>
          <p:cNvSpPr txBox="true"/>
          <p:nvPr/>
        </p:nvSpPr>
        <p:spPr>
          <a:xfrm rot="0">
            <a:off x="9562881" y="3205944"/>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Safe — Verified domain, valid SSL</a:t>
            </a:r>
          </a:p>
        </p:txBody>
      </p:sp>
      <p:sp>
        <p:nvSpPr>
          <p:cNvPr name="TextBox 21" id="21"/>
          <p:cNvSpPr txBox="true"/>
          <p:nvPr/>
        </p:nvSpPr>
        <p:spPr>
          <a:xfrm rot="0">
            <a:off x="14504499" y="3205944"/>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22" id="22"/>
          <p:cNvGrpSpPr/>
          <p:nvPr/>
        </p:nvGrpSpPr>
        <p:grpSpPr>
          <a:xfrm rot="0">
            <a:off x="823608" y="3939569"/>
            <a:ext cx="16197539" cy="796147"/>
            <a:chOff x="0" y="0"/>
            <a:chExt cx="21596718" cy="1061530"/>
          </a:xfrm>
        </p:grpSpPr>
        <p:sp>
          <p:nvSpPr>
            <p:cNvPr name="Freeform 23" id="23"/>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51A28"/>
            </a:solidFill>
          </p:spPr>
        </p:sp>
      </p:grpSp>
      <p:sp>
        <p:nvSpPr>
          <p:cNvPr name="TextBox 24" id="24"/>
          <p:cNvSpPr txBox="true"/>
          <p:nvPr/>
        </p:nvSpPr>
        <p:spPr>
          <a:xfrm rot="0">
            <a:off x="1052312" y="4057002"/>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Fake SBI clone (sbl-kyc-update.xyz)</a:t>
            </a:r>
          </a:p>
        </p:txBody>
      </p:sp>
      <p:sp>
        <p:nvSpPr>
          <p:cNvPr name="TextBox 25" id="25"/>
          <p:cNvSpPr txBox="true"/>
          <p:nvPr/>
        </p:nvSpPr>
        <p:spPr>
          <a:xfrm rot="0">
            <a:off x="6542999" y="4057002"/>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URL</a:t>
            </a:r>
          </a:p>
        </p:txBody>
      </p:sp>
      <p:sp>
        <p:nvSpPr>
          <p:cNvPr name="TextBox 26" id="26"/>
          <p:cNvSpPr txBox="true"/>
          <p:nvPr/>
        </p:nvSpPr>
        <p:spPr>
          <a:xfrm rot="0">
            <a:off x="9562881" y="4057002"/>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High Risk — Domain age &lt; 7 days, pattern match</a:t>
            </a:r>
          </a:p>
        </p:txBody>
      </p:sp>
      <p:sp>
        <p:nvSpPr>
          <p:cNvPr name="TextBox 27" id="27"/>
          <p:cNvSpPr txBox="true"/>
          <p:nvPr/>
        </p:nvSpPr>
        <p:spPr>
          <a:xfrm rot="0">
            <a:off x="14504499" y="4057002"/>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28" id="28"/>
          <p:cNvGrpSpPr/>
          <p:nvPr/>
        </p:nvGrpSpPr>
        <p:grpSpPr>
          <a:xfrm rot="0">
            <a:off x="823608" y="4790627"/>
            <a:ext cx="16197539" cy="796147"/>
            <a:chOff x="0" y="0"/>
            <a:chExt cx="21596718" cy="1061530"/>
          </a:xfrm>
        </p:grpSpPr>
        <p:sp>
          <p:nvSpPr>
            <p:cNvPr name="Freeform 29" id="29"/>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11622"/>
            </a:solidFill>
          </p:spPr>
        </p:sp>
      </p:grpSp>
      <p:sp>
        <p:nvSpPr>
          <p:cNvPr name="TextBox 30" id="30"/>
          <p:cNvSpPr txBox="true"/>
          <p:nvPr/>
        </p:nvSpPr>
        <p:spPr>
          <a:xfrm rot="0">
            <a:off x="1052312" y="4908061"/>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Fake electricity bill QR code</a:t>
            </a:r>
          </a:p>
        </p:txBody>
      </p:sp>
      <p:sp>
        <p:nvSpPr>
          <p:cNvPr name="TextBox 31" id="31"/>
          <p:cNvSpPr txBox="true"/>
          <p:nvPr/>
        </p:nvSpPr>
        <p:spPr>
          <a:xfrm rot="0">
            <a:off x="6542999" y="4908061"/>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QR Image</a:t>
            </a:r>
          </a:p>
        </p:txBody>
      </p:sp>
      <p:sp>
        <p:nvSpPr>
          <p:cNvPr name="TextBox 32" id="32"/>
          <p:cNvSpPr txBox="true"/>
          <p:nvPr/>
        </p:nvSpPr>
        <p:spPr>
          <a:xfrm rot="0">
            <a:off x="9562881" y="4908061"/>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High Risk — Embedded URL → scam domain</a:t>
            </a:r>
          </a:p>
        </p:txBody>
      </p:sp>
      <p:sp>
        <p:nvSpPr>
          <p:cNvPr name="TextBox 33" id="33"/>
          <p:cNvSpPr txBox="true"/>
          <p:nvPr/>
        </p:nvSpPr>
        <p:spPr>
          <a:xfrm rot="0">
            <a:off x="14504499" y="4908061"/>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34" id="34"/>
          <p:cNvGrpSpPr/>
          <p:nvPr/>
        </p:nvGrpSpPr>
        <p:grpSpPr>
          <a:xfrm rot="0">
            <a:off x="823608" y="5641686"/>
            <a:ext cx="16197539" cy="796147"/>
            <a:chOff x="0" y="0"/>
            <a:chExt cx="21596718" cy="1061530"/>
          </a:xfrm>
        </p:grpSpPr>
        <p:sp>
          <p:nvSpPr>
            <p:cNvPr name="Freeform 35" id="35"/>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51A28"/>
            </a:solidFill>
          </p:spPr>
        </p:sp>
      </p:grpSp>
      <p:sp>
        <p:nvSpPr>
          <p:cNvPr name="TextBox 36" id="36"/>
          <p:cNvSpPr txBox="true"/>
          <p:nvPr/>
        </p:nvSpPr>
        <p:spPr>
          <a:xfrm rot="0">
            <a:off x="1052312" y="5759120"/>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Legit Google Pay QR code</a:t>
            </a:r>
          </a:p>
        </p:txBody>
      </p:sp>
      <p:sp>
        <p:nvSpPr>
          <p:cNvPr name="TextBox 37" id="37"/>
          <p:cNvSpPr txBox="true"/>
          <p:nvPr/>
        </p:nvSpPr>
        <p:spPr>
          <a:xfrm rot="0">
            <a:off x="6542999" y="5759120"/>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QR Image</a:t>
            </a:r>
          </a:p>
        </p:txBody>
      </p:sp>
      <p:sp>
        <p:nvSpPr>
          <p:cNvPr name="TextBox 38" id="38"/>
          <p:cNvSpPr txBox="true"/>
          <p:nvPr/>
        </p:nvSpPr>
        <p:spPr>
          <a:xfrm rot="0">
            <a:off x="9562881" y="5759120"/>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Safe — Verified UPI URI format</a:t>
            </a:r>
          </a:p>
        </p:txBody>
      </p:sp>
      <p:sp>
        <p:nvSpPr>
          <p:cNvPr name="TextBox 39" id="39"/>
          <p:cNvSpPr txBox="true"/>
          <p:nvPr/>
        </p:nvSpPr>
        <p:spPr>
          <a:xfrm rot="0">
            <a:off x="14504499" y="5759120"/>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40" id="40"/>
          <p:cNvGrpSpPr/>
          <p:nvPr/>
        </p:nvGrpSpPr>
        <p:grpSpPr>
          <a:xfrm rot="0">
            <a:off x="823608" y="6492745"/>
            <a:ext cx="16197539" cy="796147"/>
            <a:chOff x="0" y="0"/>
            <a:chExt cx="21596718" cy="1061530"/>
          </a:xfrm>
        </p:grpSpPr>
        <p:sp>
          <p:nvSpPr>
            <p:cNvPr name="Freeform 41" id="41"/>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11622"/>
            </a:solidFill>
          </p:spPr>
        </p:sp>
      </p:grpSp>
      <p:sp>
        <p:nvSpPr>
          <p:cNvPr name="TextBox 42" id="42"/>
          <p:cNvSpPr txBox="true"/>
          <p:nvPr/>
        </p:nvSpPr>
        <p:spPr>
          <a:xfrm rot="0">
            <a:off x="1052312" y="6610179"/>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'KYC expiring in 24 hrs' SMS (Hindi)</a:t>
            </a:r>
          </a:p>
        </p:txBody>
      </p:sp>
      <p:sp>
        <p:nvSpPr>
          <p:cNvPr name="TextBox 43" id="43"/>
          <p:cNvSpPr txBox="true"/>
          <p:nvPr/>
        </p:nvSpPr>
        <p:spPr>
          <a:xfrm rot="0">
            <a:off x="6542999" y="6610179"/>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Message</a:t>
            </a:r>
          </a:p>
        </p:txBody>
      </p:sp>
      <p:sp>
        <p:nvSpPr>
          <p:cNvPr name="TextBox 44" id="44"/>
          <p:cNvSpPr txBox="true"/>
          <p:nvPr/>
        </p:nvSpPr>
        <p:spPr>
          <a:xfrm rot="0">
            <a:off x="9562881" y="6610179"/>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Urgency: 0.92, Impersonation: detected</a:t>
            </a:r>
          </a:p>
        </p:txBody>
      </p:sp>
      <p:sp>
        <p:nvSpPr>
          <p:cNvPr name="TextBox 45" id="45"/>
          <p:cNvSpPr txBox="true"/>
          <p:nvPr/>
        </p:nvSpPr>
        <p:spPr>
          <a:xfrm rot="0">
            <a:off x="14504499" y="6610179"/>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46" id="46"/>
          <p:cNvGrpSpPr/>
          <p:nvPr/>
        </p:nvGrpSpPr>
        <p:grpSpPr>
          <a:xfrm rot="0">
            <a:off x="823608" y="7343794"/>
            <a:ext cx="16197539" cy="796147"/>
            <a:chOff x="0" y="0"/>
            <a:chExt cx="21596718" cy="1061530"/>
          </a:xfrm>
        </p:grpSpPr>
        <p:sp>
          <p:nvSpPr>
            <p:cNvPr name="Freeform 47" id="47"/>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51A28"/>
            </a:solidFill>
          </p:spPr>
        </p:sp>
      </p:grpSp>
      <p:sp>
        <p:nvSpPr>
          <p:cNvPr name="TextBox 48" id="48"/>
          <p:cNvSpPr txBox="true"/>
          <p:nvPr/>
        </p:nvSpPr>
        <p:spPr>
          <a:xfrm rot="0">
            <a:off x="1052312" y="7461228"/>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Normal bank statement notification</a:t>
            </a:r>
          </a:p>
        </p:txBody>
      </p:sp>
      <p:sp>
        <p:nvSpPr>
          <p:cNvPr name="TextBox 49" id="49"/>
          <p:cNvSpPr txBox="true"/>
          <p:nvPr/>
        </p:nvSpPr>
        <p:spPr>
          <a:xfrm rot="0">
            <a:off x="6542999" y="7461228"/>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Message</a:t>
            </a:r>
          </a:p>
        </p:txBody>
      </p:sp>
      <p:sp>
        <p:nvSpPr>
          <p:cNvPr name="TextBox 50" id="50"/>
          <p:cNvSpPr txBox="true"/>
          <p:nvPr/>
        </p:nvSpPr>
        <p:spPr>
          <a:xfrm rot="0">
            <a:off x="9562881" y="7461228"/>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Safe — No urgency/threat patterns</a:t>
            </a:r>
          </a:p>
        </p:txBody>
      </p:sp>
      <p:sp>
        <p:nvSpPr>
          <p:cNvPr name="TextBox 51" id="51"/>
          <p:cNvSpPr txBox="true"/>
          <p:nvPr/>
        </p:nvSpPr>
        <p:spPr>
          <a:xfrm rot="0">
            <a:off x="14504499" y="7461228"/>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52" id="52"/>
          <p:cNvGrpSpPr/>
          <p:nvPr/>
        </p:nvGrpSpPr>
        <p:grpSpPr>
          <a:xfrm rot="0">
            <a:off x="823608" y="8194853"/>
            <a:ext cx="16197539" cy="796147"/>
            <a:chOff x="0" y="0"/>
            <a:chExt cx="21596718" cy="1061530"/>
          </a:xfrm>
        </p:grpSpPr>
        <p:sp>
          <p:nvSpPr>
            <p:cNvPr name="Freeform 53" id="53"/>
            <p:cNvSpPr/>
            <p:nvPr/>
          </p:nvSpPr>
          <p:spPr>
            <a:xfrm flipH="false" flipV="false" rot="0">
              <a:off x="0" y="0"/>
              <a:ext cx="21596731" cy="1061593"/>
            </a:xfrm>
            <a:custGeom>
              <a:avLst/>
              <a:gdLst/>
              <a:ahLst/>
              <a:cxnLst/>
              <a:rect r="r" b="b" t="t" l="l"/>
              <a:pathLst>
                <a:path h="1061593" w="21596731">
                  <a:moveTo>
                    <a:pt x="0" y="53086"/>
                  </a:moveTo>
                  <a:cubicBezTo>
                    <a:pt x="0" y="23749"/>
                    <a:pt x="23749" y="0"/>
                    <a:pt x="53086" y="0"/>
                  </a:cubicBezTo>
                  <a:lnTo>
                    <a:pt x="21543645" y="0"/>
                  </a:lnTo>
                  <a:cubicBezTo>
                    <a:pt x="21572982" y="0"/>
                    <a:pt x="21596731" y="23749"/>
                    <a:pt x="21596731" y="53086"/>
                  </a:cubicBezTo>
                  <a:lnTo>
                    <a:pt x="21596731" y="1008507"/>
                  </a:lnTo>
                  <a:cubicBezTo>
                    <a:pt x="21596731" y="1037844"/>
                    <a:pt x="21572982" y="1061593"/>
                    <a:pt x="21543645" y="1061593"/>
                  </a:cubicBezTo>
                  <a:lnTo>
                    <a:pt x="53086" y="1061593"/>
                  </a:lnTo>
                  <a:cubicBezTo>
                    <a:pt x="23749" y="1061593"/>
                    <a:pt x="0" y="1037717"/>
                    <a:pt x="0" y="1008507"/>
                  </a:cubicBezTo>
                  <a:close/>
                </a:path>
              </a:pathLst>
            </a:custGeom>
            <a:solidFill>
              <a:srgbClr val="111622"/>
            </a:solidFill>
          </p:spPr>
        </p:sp>
      </p:grpSp>
      <p:sp>
        <p:nvSpPr>
          <p:cNvPr name="TextBox 54" id="54"/>
          <p:cNvSpPr txBox="true"/>
          <p:nvPr/>
        </p:nvSpPr>
        <p:spPr>
          <a:xfrm rot="0">
            <a:off x="1052312" y="8312287"/>
            <a:ext cx="5307806" cy="564366"/>
          </a:xfrm>
          <a:prstGeom prst="rect">
            <a:avLst/>
          </a:prstGeom>
        </p:spPr>
        <p:txBody>
          <a:bodyPr anchor="t" rtlCol="false" tIns="0" lIns="0" bIns="0" rIns="0">
            <a:spAutoFit/>
          </a:bodyPr>
          <a:lstStyle/>
          <a:p>
            <a:pPr algn="l">
              <a:lnSpc>
                <a:spcPts val="1801"/>
              </a:lnSpc>
            </a:pPr>
            <a:r>
              <a:rPr lang="en-US" sz="1501">
                <a:solidFill>
                  <a:srgbClr val="EEEEF0"/>
                </a:solidFill>
                <a:latin typeface="Calibri (MS)"/>
                <a:ea typeface="Calibri (MS)"/>
                <a:cs typeface="Calibri (MS)"/>
                <a:sym typeface="Calibri (MS)"/>
              </a:rPr>
              <a:t>Mixed Hindi-English phishing SMS</a:t>
            </a:r>
          </a:p>
        </p:txBody>
      </p:sp>
      <p:sp>
        <p:nvSpPr>
          <p:cNvPr name="TextBox 55" id="55"/>
          <p:cNvSpPr txBox="true"/>
          <p:nvPr/>
        </p:nvSpPr>
        <p:spPr>
          <a:xfrm rot="0">
            <a:off x="6542999" y="8312287"/>
            <a:ext cx="2837002" cy="564366"/>
          </a:xfrm>
          <a:prstGeom prst="rect">
            <a:avLst/>
          </a:prstGeom>
        </p:spPr>
        <p:txBody>
          <a:bodyPr anchor="t" rtlCol="false" tIns="0" lIns="0" bIns="0" rIns="0">
            <a:spAutoFit/>
          </a:bodyPr>
          <a:lstStyle/>
          <a:p>
            <a:pPr algn="l">
              <a:lnSpc>
                <a:spcPts val="1801"/>
              </a:lnSpc>
            </a:pPr>
            <a:r>
              <a:rPr lang="en-US" sz="1501">
                <a:solidFill>
                  <a:srgbClr val="009EFF"/>
                </a:solidFill>
                <a:latin typeface="Calibri (MS)"/>
                <a:ea typeface="Calibri (MS)"/>
                <a:cs typeface="Calibri (MS)"/>
                <a:sym typeface="Calibri (MS)"/>
              </a:rPr>
              <a:t>Message</a:t>
            </a:r>
          </a:p>
        </p:txBody>
      </p:sp>
      <p:sp>
        <p:nvSpPr>
          <p:cNvPr name="TextBox 56" id="56"/>
          <p:cNvSpPr txBox="true"/>
          <p:nvPr/>
        </p:nvSpPr>
        <p:spPr>
          <a:xfrm rot="0">
            <a:off x="9562881" y="8312287"/>
            <a:ext cx="4758738" cy="564366"/>
          </a:xfrm>
          <a:prstGeom prst="rect">
            <a:avLst/>
          </a:prstGeom>
        </p:spPr>
        <p:txBody>
          <a:bodyPr anchor="t" rtlCol="false" tIns="0" lIns="0" bIns="0" rIns="0">
            <a:spAutoFit/>
          </a:bodyPr>
          <a:lstStyle/>
          <a:p>
            <a:pPr algn="l">
              <a:lnSpc>
                <a:spcPts val="1801"/>
              </a:lnSpc>
            </a:pPr>
            <a:r>
              <a:rPr lang="en-US" sz="1501">
                <a:solidFill>
                  <a:srgbClr val="99A0B0"/>
                </a:solidFill>
                <a:latin typeface="Calibri (MS)"/>
                <a:ea typeface="Calibri (MS)"/>
                <a:cs typeface="Calibri (MS)"/>
                <a:sym typeface="Calibri (MS)"/>
              </a:rPr>
              <a:t>🟡 Medium — Urgency detected, link suspicious</a:t>
            </a:r>
          </a:p>
        </p:txBody>
      </p:sp>
      <p:sp>
        <p:nvSpPr>
          <p:cNvPr name="TextBox 57" id="57"/>
          <p:cNvSpPr txBox="true"/>
          <p:nvPr/>
        </p:nvSpPr>
        <p:spPr>
          <a:xfrm rot="0">
            <a:off x="14504499" y="8312287"/>
            <a:ext cx="2287934" cy="564366"/>
          </a:xfrm>
          <a:prstGeom prst="rect">
            <a:avLst/>
          </a:prstGeom>
        </p:spPr>
        <p:txBody>
          <a:bodyPr anchor="t" rtlCol="false" tIns="0" lIns="0" bIns="0" rIns="0">
            <a:spAutoFit/>
          </a:bodyPr>
          <a:lstStyle/>
          <a:p>
            <a:pPr algn="l">
              <a:lnSpc>
                <a:spcPts val="1801"/>
              </a:lnSpc>
            </a:pPr>
            <a:r>
              <a:rPr lang="en-US" sz="1501">
                <a:solidFill>
                  <a:srgbClr val="00E676"/>
                </a:solidFill>
                <a:latin typeface="Calibri (MS)"/>
                <a:ea typeface="Calibri (MS)"/>
                <a:cs typeface="Calibri (MS)"/>
                <a:sym typeface="Calibri (MS)"/>
              </a:rPr>
              <a:t>✅ Pass</a:t>
            </a:r>
          </a:p>
        </p:txBody>
      </p:sp>
      <p:grpSp>
        <p:nvGrpSpPr>
          <p:cNvPr name="Group 58" id="58"/>
          <p:cNvGrpSpPr/>
          <p:nvPr/>
        </p:nvGrpSpPr>
        <p:grpSpPr>
          <a:xfrm rot="0">
            <a:off x="804548" y="8741254"/>
            <a:ext cx="16216598" cy="1254471"/>
            <a:chOff x="0" y="0"/>
            <a:chExt cx="21622131" cy="1672628"/>
          </a:xfrm>
        </p:grpSpPr>
        <p:sp>
          <p:nvSpPr>
            <p:cNvPr name="Freeform 59" id="59"/>
            <p:cNvSpPr/>
            <p:nvPr/>
          </p:nvSpPr>
          <p:spPr>
            <a:xfrm flipH="false" flipV="false" rot="0">
              <a:off x="0" y="0"/>
              <a:ext cx="21622130" cy="1672717"/>
            </a:xfrm>
            <a:custGeom>
              <a:avLst/>
              <a:gdLst/>
              <a:ahLst/>
              <a:cxnLst/>
              <a:rect r="r" b="b" t="t" l="l"/>
              <a:pathLst>
                <a:path h="1672717" w="21622130">
                  <a:moveTo>
                    <a:pt x="0" y="83693"/>
                  </a:moveTo>
                  <a:cubicBezTo>
                    <a:pt x="0" y="37465"/>
                    <a:pt x="37465" y="0"/>
                    <a:pt x="83693" y="0"/>
                  </a:cubicBezTo>
                  <a:lnTo>
                    <a:pt x="21538437" y="0"/>
                  </a:lnTo>
                  <a:cubicBezTo>
                    <a:pt x="21584665" y="0"/>
                    <a:pt x="21622130" y="37465"/>
                    <a:pt x="21622130" y="83693"/>
                  </a:cubicBezTo>
                  <a:lnTo>
                    <a:pt x="21622130" y="1589024"/>
                  </a:lnTo>
                  <a:cubicBezTo>
                    <a:pt x="21622130" y="1635252"/>
                    <a:pt x="21584665" y="1672717"/>
                    <a:pt x="21538437" y="1672717"/>
                  </a:cubicBezTo>
                  <a:lnTo>
                    <a:pt x="83693" y="1672717"/>
                  </a:lnTo>
                  <a:cubicBezTo>
                    <a:pt x="37465" y="1672717"/>
                    <a:pt x="0" y="1635252"/>
                    <a:pt x="0" y="1589024"/>
                  </a:cubicBezTo>
                  <a:close/>
                </a:path>
              </a:pathLst>
            </a:custGeom>
            <a:solidFill>
              <a:srgbClr val="111622"/>
            </a:solidFill>
            <a:ln w="19065" cap="sq">
              <a:solidFill>
                <a:srgbClr val="FFD600"/>
              </a:solidFill>
              <a:prstDash val="solid"/>
              <a:miter/>
            </a:ln>
          </p:spPr>
        </p:sp>
      </p:grpSp>
      <p:sp>
        <p:nvSpPr>
          <p:cNvPr name="TextBox 60" id="60"/>
          <p:cNvSpPr txBox="true"/>
          <p:nvPr/>
        </p:nvSpPr>
        <p:spPr>
          <a:xfrm rot="0">
            <a:off x="1189577" y="8821684"/>
            <a:ext cx="14916512" cy="436616"/>
          </a:xfrm>
          <a:prstGeom prst="rect">
            <a:avLst/>
          </a:prstGeom>
        </p:spPr>
        <p:txBody>
          <a:bodyPr anchor="t" rtlCol="false" tIns="0" lIns="0" bIns="0" rIns="0">
            <a:spAutoFit/>
          </a:bodyPr>
          <a:lstStyle/>
          <a:p>
            <a:pPr algn="l">
              <a:lnSpc>
                <a:spcPts val="2521"/>
              </a:lnSpc>
            </a:pPr>
            <a:r>
              <a:rPr lang="en-US" sz="2101" b="true">
                <a:solidFill>
                  <a:srgbClr val="FFD600"/>
                </a:solidFill>
                <a:latin typeface="Calibri (MS) Bold"/>
                <a:ea typeface="Calibri (MS) Bold"/>
                <a:cs typeface="Calibri (MS) Bold"/>
                <a:sym typeface="Calibri (MS) Bold"/>
              </a:rPr>
              <a:t>🎯  DEMO APPROACH</a:t>
            </a:r>
          </a:p>
        </p:txBody>
      </p:sp>
      <p:sp>
        <p:nvSpPr>
          <p:cNvPr name="TextBox 61" id="61"/>
          <p:cNvSpPr txBox="true"/>
          <p:nvPr/>
        </p:nvSpPr>
        <p:spPr>
          <a:xfrm rot="0">
            <a:off x="1189577" y="9076782"/>
            <a:ext cx="14916512" cy="554841"/>
          </a:xfrm>
          <a:prstGeom prst="rect">
            <a:avLst/>
          </a:prstGeom>
        </p:spPr>
        <p:txBody>
          <a:bodyPr anchor="t" rtlCol="false" tIns="0" lIns="0" bIns="0" rIns="0">
            <a:spAutoFit/>
          </a:bodyPr>
          <a:lstStyle/>
          <a:p>
            <a:pPr algn="l">
              <a:lnSpc>
                <a:spcPts val="1981"/>
              </a:lnSpc>
            </a:pPr>
            <a:r>
              <a:rPr lang="en-US" sz="1651">
                <a:solidFill>
                  <a:srgbClr val="99A0B0"/>
                </a:solidFill>
                <a:latin typeface="Calibri (MS)"/>
                <a:ea typeface="Calibri (MS)"/>
                <a:cs typeface="Calibri (MS)"/>
                <a:sym typeface="Calibri (MS)"/>
              </a:rPr>
              <a:t>Live demo with side-by-side analysis of real bank URLs vs. crafted scam URLs. QR code scanning demo with both legitimate UPI QRs and phishing QRs. Message analysis on collected sample scam SMSes (sanitized, no real user data). All testing on simulated/sanitized data — no live scam sites accessed.</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B0E17"/>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57198"/>
            <a:chOff x="0" y="0"/>
            <a:chExt cx="24402453" cy="76264"/>
          </a:xfrm>
        </p:grpSpPr>
        <p:sp>
          <p:nvSpPr>
            <p:cNvPr name="Freeform 3" id="3"/>
            <p:cNvSpPr/>
            <p:nvPr/>
          </p:nvSpPr>
          <p:spPr>
            <a:xfrm flipH="false" flipV="false" rot="0">
              <a:off x="0" y="0"/>
              <a:ext cx="24402414" cy="76200"/>
            </a:xfrm>
            <a:custGeom>
              <a:avLst/>
              <a:gdLst/>
              <a:ahLst/>
              <a:cxnLst/>
              <a:rect r="r" b="b" t="t" l="l"/>
              <a:pathLst>
                <a:path h="76200" w="24402414">
                  <a:moveTo>
                    <a:pt x="0" y="0"/>
                  </a:moveTo>
                  <a:lnTo>
                    <a:pt x="24402414" y="0"/>
                  </a:lnTo>
                  <a:lnTo>
                    <a:pt x="24402414" y="76200"/>
                  </a:lnTo>
                  <a:lnTo>
                    <a:pt x="0" y="76200"/>
                  </a:lnTo>
                  <a:close/>
                </a:path>
              </a:pathLst>
            </a:custGeom>
            <a:solidFill>
              <a:srgbClr val="00F0C8"/>
            </a:solidFill>
          </p:spPr>
        </p:sp>
      </p:grpSp>
      <p:sp>
        <p:nvSpPr>
          <p:cNvPr name="TextBox 4" id="4"/>
          <p:cNvSpPr txBox="true"/>
          <p:nvPr/>
        </p:nvSpPr>
        <p:spPr>
          <a:xfrm rot="0">
            <a:off x="915048" y="960920"/>
            <a:ext cx="10798502" cy="846468"/>
          </a:xfrm>
          <a:prstGeom prst="rect">
            <a:avLst/>
          </a:prstGeom>
        </p:spPr>
        <p:txBody>
          <a:bodyPr anchor="t" rtlCol="false" tIns="0" lIns="0" bIns="0" rIns="0">
            <a:spAutoFit/>
          </a:bodyPr>
          <a:lstStyle/>
          <a:p>
            <a:pPr algn="l">
              <a:lnSpc>
                <a:spcPts val="6485"/>
              </a:lnSpc>
            </a:pPr>
            <a:r>
              <a:rPr lang="en-US" sz="5404" b="true">
                <a:solidFill>
                  <a:srgbClr val="00F0C8"/>
                </a:solidFill>
                <a:latin typeface="Calibri (MS) Bold"/>
                <a:ea typeface="Calibri (MS) Bold"/>
                <a:cs typeface="Calibri (MS) Bold"/>
                <a:sym typeface="Calibri (MS) Bold"/>
              </a:rPr>
              <a:t>Team D43M0N$</a:t>
            </a:r>
          </a:p>
        </p:txBody>
      </p:sp>
      <p:grpSp>
        <p:nvGrpSpPr>
          <p:cNvPr name="Group 5" id="5"/>
          <p:cNvGrpSpPr/>
          <p:nvPr/>
        </p:nvGrpSpPr>
        <p:grpSpPr>
          <a:xfrm rot="0">
            <a:off x="823608" y="1853108"/>
            <a:ext cx="3431677" cy="38129"/>
            <a:chOff x="0" y="0"/>
            <a:chExt cx="4575569" cy="50838"/>
          </a:xfrm>
        </p:grpSpPr>
        <p:sp>
          <p:nvSpPr>
            <p:cNvPr name="Freeform 6" id="6"/>
            <p:cNvSpPr/>
            <p:nvPr/>
          </p:nvSpPr>
          <p:spPr>
            <a:xfrm flipH="false" flipV="false" rot="0">
              <a:off x="0" y="0"/>
              <a:ext cx="4575556" cy="50800"/>
            </a:xfrm>
            <a:custGeom>
              <a:avLst/>
              <a:gdLst/>
              <a:ahLst/>
              <a:cxnLst/>
              <a:rect r="r" b="b" t="t" l="l"/>
              <a:pathLst>
                <a:path h="50800" w="4575556">
                  <a:moveTo>
                    <a:pt x="0" y="0"/>
                  </a:moveTo>
                  <a:lnTo>
                    <a:pt x="4575556" y="0"/>
                  </a:lnTo>
                  <a:lnTo>
                    <a:pt x="4575556" y="50800"/>
                  </a:lnTo>
                  <a:lnTo>
                    <a:pt x="0" y="50800"/>
                  </a:lnTo>
                  <a:close/>
                </a:path>
              </a:pathLst>
            </a:custGeom>
            <a:solidFill>
              <a:srgbClr val="00F0C8"/>
            </a:solidFill>
          </p:spPr>
        </p:sp>
      </p:grpSp>
      <p:grpSp>
        <p:nvGrpSpPr>
          <p:cNvPr name="Group 7" id="7"/>
          <p:cNvGrpSpPr/>
          <p:nvPr/>
        </p:nvGrpSpPr>
        <p:grpSpPr>
          <a:xfrm rot="0">
            <a:off x="814073" y="2461279"/>
            <a:ext cx="3862549" cy="3038942"/>
            <a:chOff x="0" y="0"/>
            <a:chExt cx="5150066" cy="4051922"/>
          </a:xfrm>
        </p:grpSpPr>
        <p:sp>
          <p:nvSpPr>
            <p:cNvPr name="Freeform 8" id="8"/>
            <p:cNvSpPr/>
            <p:nvPr/>
          </p:nvSpPr>
          <p:spPr>
            <a:xfrm flipH="false" flipV="false" rot="0">
              <a:off x="0" y="0"/>
              <a:ext cx="5149977" cy="4051935"/>
            </a:xfrm>
            <a:custGeom>
              <a:avLst/>
              <a:gdLst/>
              <a:ahLst/>
              <a:cxnLst/>
              <a:rect r="r" b="b" t="t" l="l"/>
              <a:pathLst>
                <a:path h="4051935" w="5149977">
                  <a:moveTo>
                    <a:pt x="0" y="202565"/>
                  </a:moveTo>
                  <a:cubicBezTo>
                    <a:pt x="0" y="90678"/>
                    <a:pt x="90678" y="0"/>
                    <a:pt x="202565" y="0"/>
                  </a:cubicBezTo>
                  <a:lnTo>
                    <a:pt x="4947412" y="0"/>
                  </a:lnTo>
                  <a:cubicBezTo>
                    <a:pt x="5059299" y="0"/>
                    <a:pt x="5149977" y="90678"/>
                    <a:pt x="5149977" y="202565"/>
                  </a:cubicBezTo>
                  <a:lnTo>
                    <a:pt x="5149977" y="3849370"/>
                  </a:lnTo>
                  <a:cubicBezTo>
                    <a:pt x="5149977" y="3961257"/>
                    <a:pt x="5059299" y="4051935"/>
                    <a:pt x="4947412" y="4051935"/>
                  </a:cubicBezTo>
                  <a:lnTo>
                    <a:pt x="202565" y="4051935"/>
                  </a:lnTo>
                  <a:cubicBezTo>
                    <a:pt x="90678" y="4051935"/>
                    <a:pt x="0" y="3961257"/>
                    <a:pt x="0" y="3849370"/>
                  </a:cubicBezTo>
                  <a:close/>
                </a:path>
              </a:pathLst>
            </a:custGeom>
            <a:solidFill>
              <a:srgbClr val="111622"/>
            </a:solidFill>
            <a:ln w="19065" cap="sq">
              <a:solidFill>
                <a:srgbClr val="00F0C8"/>
              </a:solidFill>
              <a:prstDash val="solid"/>
              <a:miter/>
            </a:ln>
          </p:spPr>
        </p:sp>
      </p:grpSp>
      <p:sp>
        <p:nvSpPr>
          <p:cNvPr name="TextBox 9" id="9"/>
          <p:cNvSpPr txBox="true"/>
          <p:nvPr/>
        </p:nvSpPr>
        <p:spPr>
          <a:xfrm rot="0">
            <a:off x="1189577" y="2705338"/>
            <a:ext cx="640728" cy="817893"/>
          </a:xfrm>
          <a:prstGeom prst="rect">
            <a:avLst/>
          </a:prstGeom>
        </p:spPr>
        <p:txBody>
          <a:bodyPr anchor="t" rtlCol="false" tIns="0" lIns="0" bIns="0" rIns="0">
            <a:spAutoFit/>
          </a:bodyPr>
          <a:lstStyle/>
          <a:p>
            <a:pPr algn="l">
              <a:lnSpc>
                <a:spcPts val="5043"/>
              </a:lnSpc>
            </a:pPr>
            <a:r>
              <a:rPr lang="en-US" sz="4203">
                <a:solidFill>
                  <a:srgbClr val="00F0C8"/>
                </a:solidFill>
                <a:latin typeface="Calibri (MS)"/>
                <a:ea typeface="Calibri (MS)"/>
                <a:cs typeface="Calibri (MS)"/>
                <a:sym typeface="Calibri (MS)"/>
              </a:rPr>
              <a:t>⚙️</a:t>
            </a:r>
          </a:p>
        </p:txBody>
      </p:sp>
      <p:sp>
        <p:nvSpPr>
          <p:cNvPr name="TextBox 10" id="10"/>
          <p:cNvSpPr txBox="true"/>
          <p:nvPr/>
        </p:nvSpPr>
        <p:spPr>
          <a:xfrm rot="0">
            <a:off x="1189577" y="3576571"/>
            <a:ext cx="3111532" cy="427091"/>
          </a:xfrm>
          <a:prstGeom prst="rect">
            <a:avLst/>
          </a:prstGeom>
        </p:spPr>
        <p:txBody>
          <a:bodyPr anchor="t" rtlCol="false" tIns="0" lIns="0" bIns="0" rIns="0">
            <a:spAutoFit/>
          </a:bodyPr>
          <a:lstStyle/>
          <a:p>
            <a:pPr algn="l">
              <a:lnSpc>
                <a:spcPts val="2882"/>
              </a:lnSpc>
            </a:pPr>
            <a:r>
              <a:rPr lang="en-US" sz="2401" b="true">
                <a:solidFill>
                  <a:srgbClr val="EEEEF0"/>
                </a:solidFill>
                <a:latin typeface="Calibri (MS) Bold"/>
                <a:ea typeface="Calibri (MS) Bold"/>
                <a:cs typeface="Calibri (MS) Bold"/>
                <a:sym typeface="Calibri (MS) Bold"/>
              </a:rPr>
              <a:t>Aastik Tripathi</a:t>
            </a:r>
          </a:p>
        </p:txBody>
      </p:sp>
      <p:sp>
        <p:nvSpPr>
          <p:cNvPr name="TextBox 11" id="11"/>
          <p:cNvSpPr txBox="true"/>
          <p:nvPr/>
        </p:nvSpPr>
        <p:spPr>
          <a:xfrm rot="0">
            <a:off x="1189577" y="4057002"/>
            <a:ext cx="3111532" cy="289827"/>
          </a:xfrm>
          <a:prstGeom prst="rect">
            <a:avLst/>
          </a:prstGeom>
        </p:spPr>
        <p:txBody>
          <a:bodyPr anchor="t" rtlCol="false" tIns="0" lIns="0" bIns="0" rIns="0">
            <a:spAutoFit/>
          </a:bodyPr>
          <a:lstStyle/>
          <a:p>
            <a:pPr algn="l">
              <a:lnSpc>
                <a:spcPts val="1801"/>
              </a:lnSpc>
            </a:pPr>
            <a:r>
              <a:rPr lang="en-US" sz="1501">
                <a:solidFill>
                  <a:srgbClr val="666E80"/>
                </a:solidFill>
                <a:latin typeface="Calibri (MS)"/>
                <a:ea typeface="Calibri (MS)"/>
                <a:cs typeface="Calibri (MS)"/>
                <a:sym typeface="Calibri (MS)"/>
              </a:rPr>
              <a:t>26BCY10090</a:t>
            </a:r>
          </a:p>
        </p:txBody>
      </p:sp>
      <p:grpSp>
        <p:nvGrpSpPr>
          <p:cNvPr name="Group 12" id="12"/>
          <p:cNvGrpSpPr/>
          <p:nvPr/>
        </p:nvGrpSpPr>
        <p:grpSpPr>
          <a:xfrm rot="0">
            <a:off x="4836004" y="2461279"/>
            <a:ext cx="3862549" cy="3038942"/>
            <a:chOff x="0" y="0"/>
            <a:chExt cx="5150066" cy="4051922"/>
          </a:xfrm>
        </p:grpSpPr>
        <p:sp>
          <p:nvSpPr>
            <p:cNvPr name="Freeform 13" id="13"/>
            <p:cNvSpPr/>
            <p:nvPr/>
          </p:nvSpPr>
          <p:spPr>
            <a:xfrm flipH="false" flipV="false" rot="0">
              <a:off x="0" y="0"/>
              <a:ext cx="5149977" cy="4051935"/>
            </a:xfrm>
            <a:custGeom>
              <a:avLst/>
              <a:gdLst/>
              <a:ahLst/>
              <a:cxnLst/>
              <a:rect r="r" b="b" t="t" l="l"/>
              <a:pathLst>
                <a:path h="4051935" w="5149977">
                  <a:moveTo>
                    <a:pt x="0" y="202565"/>
                  </a:moveTo>
                  <a:cubicBezTo>
                    <a:pt x="0" y="90678"/>
                    <a:pt x="90678" y="0"/>
                    <a:pt x="202565" y="0"/>
                  </a:cubicBezTo>
                  <a:lnTo>
                    <a:pt x="4947412" y="0"/>
                  </a:lnTo>
                  <a:cubicBezTo>
                    <a:pt x="5059299" y="0"/>
                    <a:pt x="5149977" y="90678"/>
                    <a:pt x="5149977" y="202565"/>
                  </a:cubicBezTo>
                  <a:lnTo>
                    <a:pt x="5149977" y="3849370"/>
                  </a:lnTo>
                  <a:cubicBezTo>
                    <a:pt x="5149977" y="3961257"/>
                    <a:pt x="5059299" y="4051935"/>
                    <a:pt x="4947412" y="4051935"/>
                  </a:cubicBezTo>
                  <a:lnTo>
                    <a:pt x="202565" y="4051935"/>
                  </a:lnTo>
                  <a:cubicBezTo>
                    <a:pt x="90678" y="4051935"/>
                    <a:pt x="0" y="3961257"/>
                    <a:pt x="0" y="3849370"/>
                  </a:cubicBezTo>
                  <a:close/>
                </a:path>
              </a:pathLst>
            </a:custGeom>
            <a:solidFill>
              <a:srgbClr val="111622"/>
            </a:solidFill>
            <a:ln w="19065" cap="sq">
              <a:solidFill>
                <a:srgbClr val="00F0C8"/>
              </a:solidFill>
              <a:prstDash val="solid"/>
              <a:miter/>
            </a:ln>
          </p:spPr>
        </p:sp>
      </p:grpSp>
      <p:sp>
        <p:nvSpPr>
          <p:cNvPr name="TextBox 14" id="14"/>
          <p:cNvSpPr txBox="true"/>
          <p:nvPr/>
        </p:nvSpPr>
        <p:spPr>
          <a:xfrm rot="0">
            <a:off x="5211508" y="2705338"/>
            <a:ext cx="640728" cy="817893"/>
          </a:xfrm>
          <a:prstGeom prst="rect">
            <a:avLst/>
          </a:prstGeom>
        </p:spPr>
        <p:txBody>
          <a:bodyPr anchor="t" rtlCol="false" tIns="0" lIns="0" bIns="0" rIns="0">
            <a:spAutoFit/>
          </a:bodyPr>
          <a:lstStyle/>
          <a:p>
            <a:pPr algn="l">
              <a:lnSpc>
                <a:spcPts val="5043"/>
              </a:lnSpc>
            </a:pPr>
            <a:r>
              <a:rPr lang="en-US" sz="4203">
                <a:solidFill>
                  <a:srgbClr val="00F0C8"/>
                </a:solidFill>
                <a:latin typeface="Calibri (MS)"/>
                <a:ea typeface="Calibri (MS)"/>
                <a:cs typeface="Calibri (MS)"/>
                <a:sym typeface="Calibri (MS)"/>
              </a:rPr>
              <a:t>🧠</a:t>
            </a:r>
          </a:p>
        </p:txBody>
      </p:sp>
      <p:sp>
        <p:nvSpPr>
          <p:cNvPr name="TextBox 15" id="15"/>
          <p:cNvSpPr txBox="true"/>
          <p:nvPr/>
        </p:nvSpPr>
        <p:spPr>
          <a:xfrm rot="0">
            <a:off x="5211508" y="3576571"/>
            <a:ext cx="3111532" cy="427091"/>
          </a:xfrm>
          <a:prstGeom prst="rect">
            <a:avLst/>
          </a:prstGeom>
        </p:spPr>
        <p:txBody>
          <a:bodyPr anchor="t" rtlCol="false" tIns="0" lIns="0" bIns="0" rIns="0">
            <a:spAutoFit/>
          </a:bodyPr>
          <a:lstStyle/>
          <a:p>
            <a:pPr algn="l">
              <a:lnSpc>
                <a:spcPts val="2882"/>
              </a:lnSpc>
            </a:pPr>
            <a:r>
              <a:rPr lang="en-US" sz="2401" b="true">
                <a:solidFill>
                  <a:srgbClr val="EEEEF0"/>
                </a:solidFill>
                <a:latin typeface="Calibri (MS) Bold"/>
                <a:ea typeface="Calibri (MS) Bold"/>
                <a:cs typeface="Calibri (MS) Bold"/>
                <a:sym typeface="Calibri (MS) Bold"/>
              </a:rPr>
              <a:t>Palak Kalra</a:t>
            </a:r>
          </a:p>
        </p:txBody>
      </p:sp>
      <p:sp>
        <p:nvSpPr>
          <p:cNvPr name="TextBox 16" id="16"/>
          <p:cNvSpPr txBox="true"/>
          <p:nvPr/>
        </p:nvSpPr>
        <p:spPr>
          <a:xfrm rot="0">
            <a:off x="5211508" y="4057002"/>
            <a:ext cx="3111532" cy="289827"/>
          </a:xfrm>
          <a:prstGeom prst="rect">
            <a:avLst/>
          </a:prstGeom>
        </p:spPr>
        <p:txBody>
          <a:bodyPr anchor="t" rtlCol="false" tIns="0" lIns="0" bIns="0" rIns="0">
            <a:spAutoFit/>
          </a:bodyPr>
          <a:lstStyle/>
          <a:p>
            <a:pPr algn="l">
              <a:lnSpc>
                <a:spcPts val="1801"/>
              </a:lnSpc>
            </a:pPr>
            <a:r>
              <a:rPr lang="en-US" sz="1501">
                <a:solidFill>
                  <a:srgbClr val="666E80"/>
                </a:solidFill>
                <a:latin typeface="Calibri (MS)"/>
                <a:ea typeface="Calibri (MS)"/>
                <a:cs typeface="Calibri (MS)"/>
                <a:sym typeface="Calibri (MS)"/>
              </a:rPr>
              <a:t>26BCY10001</a:t>
            </a:r>
          </a:p>
        </p:txBody>
      </p:sp>
      <p:grpSp>
        <p:nvGrpSpPr>
          <p:cNvPr name="Group 17" id="17"/>
          <p:cNvGrpSpPr/>
          <p:nvPr/>
        </p:nvGrpSpPr>
        <p:grpSpPr>
          <a:xfrm rot="0">
            <a:off x="8857936" y="2461279"/>
            <a:ext cx="3862549" cy="3038942"/>
            <a:chOff x="0" y="0"/>
            <a:chExt cx="5150066" cy="4051922"/>
          </a:xfrm>
        </p:grpSpPr>
        <p:sp>
          <p:nvSpPr>
            <p:cNvPr name="Freeform 18" id="18"/>
            <p:cNvSpPr/>
            <p:nvPr/>
          </p:nvSpPr>
          <p:spPr>
            <a:xfrm flipH="false" flipV="false" rot="0">
              <a:off x="0" y="0"/>
              <a:ext cx="5149977" cy="4051935"/>
            </a:xfrm>
            <a:custGeom>
              <a:avLst/>
              <a:gdLst/>
              <a:ahLst/>
              <a:cxnLst/>
              <a:rect r="r" b="b" t="t" l="l"/>
              <a:pathLst>
                <a:path h="4051935" w="5149977">
                  <a:moveTo>
                    <a:pt x="0" y="202565"/>
                  </a:moveTo>
                  <a:cubicBezTo>
                    <a:pt x="0" y="90678"/>
                    <a:pt x="90678" y="0"/>
                    <a:pt x="202565" y="0"/>
                  </a:cubicBezTo>
                  <a:lnTo>
                    <a:pt x="4947412" y="0"/>
                  </a:lnTo>
                  <a:cubicBezTo>
                    <a:pt x="5059299" y="0"/>
                    <a:pt x="5149977" y="90678"/>
                    <a:pt x="5149977" y="202565"/>
                  </a:cubicBezTo>
                  <a:lnTo>
                    <a:pt x="5149977" y="3849370"/>
                  </a:lnTo>
                  <a:cubicBezTo>
                    <a:pt x="5149977" y="3961257"/>
                    <a:pt x="5059299" y="4051935"/>
                    <a:pt x="4947412" y="4051935"/>
                  </a:cubicBezTo>
                  <a:lnTo>
                    <a:pt x="202565" y="4051935"/>
                  </a:lnTo>
                  <a:cubicBezTo>
                    <a:pt x="90678" y="4051935"/>
                    <a:pt x="0" y="3961257"/>
                    <a:pt x="0" y="3849370"/>
                  </a:cubicBezTo>
                  <a:close/>
                </a:path>
              </a:pathLst>
            </a:custGeom>
            <a:solidFill>
              <a:srgbClr val="111622"/>
            </a:solidFill>
            <a:ln w="19065" cap="sq">
              <a:solidFill>
                <a:srgbClr val="00F0C8"/>
              </a:solidFill>
              <a:prstDash val="solid"/>
              <a:miter/>
            </a:ln>
          </p:spPr>
        </p:sp>
      </p:grpSp>
      <p:sp>
        <p:nvSpPr>
          <p:cNvPr name="TextBox 19" id="19"/>
          <p:cNvSpPr txBox="true"/>
          <p:nvPr/>
        </p:nvSpPr>
        <p:spPr>
          <a:xfrm rot="0">
            <a:off x="9233440" y="2705338"/>
            <a:ext cx="640728" cy="817893"/>
          </a:xfrm>
          <a:prstGeom prst="rect">
            <a:avLst/>
          </a:prstGeom>
        </p:spPr>
        <p:txBody>
          <a:bodyPr anchor="t" rtlCol="false" tIns="0" lIns="0" bIns="0" rIns="0">
            <a:spAutoFit/>
          </a:bodyPr>
          <a:lstStyle/>
          <a:p>
            <a:pPr algn="l">
              <a:lnSpc>
                <a:spcPts val="5043"/>
              </a:lnSpc>
            </a:pPr>
            <a:r>
              <a:rPr lang="en-US" sz="4203">
                <a:solidFill>
                  <a:srgbClr val="00F0C8"/>
                </a:solidFill>
                <a:latin typeface="Calibri (MS)"/>
                <a:ea typeface="Calibri (MS)"/>
                <a:cs typeface="Calibri (MS)"/>
                <a:sym typeface="Calibri (MS)"/>
              </a:rPr>
              <a:t>🖥️</a:t>
            </a:r>
          </a:p>
        </p:txBody>
      </p:sp>
      <p:sp>
        <p:nvSpPr>
          <p:cNvPr name="TextBox 20" id="20"/>
          <p:cNvSpPr txBox="true"/>
          <p:nvPr/>
        </p:nvSpPr>
        <p:spPr>
          <a:xfrm rot="0">
            <a:off x="9233440" y="3576571"/>
            <a:ext cx="3111532" cy="427091"/>
          </a:xfrm>
          <a:prstGeom prst="rect">
            <a:avLst/>
          </a:prstGeom>
        </p:spPr>
        <p:txBody>
          <a:bodyPr anchor="t" rtlCol="false" tIns="0" lIns="0" bIns="0" rIns="0">
            <a:spAutoFit/>
          </a:bodyPr>
          <a:lstStyle/>
          <a:p>
            <a:pPr algn="l">
              <a:lnSpc>
                <a:spcPts val="2882"/>
              </a:lnSpc>
            </a:pPr>
            <a:r>
              <a:rPr lang="en-US" sz="2401" b="true">
                <a:solidFill>
                  <a:srgbClr val="EEEEF0"/>
                </a:solidFill>
                <a:latin typeface="Calibri (MS) Bold"/>
                <a:ea typeface="Calibri (MS) Bold"/>
                <a:cs typeface="Calibri (MS) Bold"/>
                <a:sym typeface="Calibri (MS) Bold"/>
              </a:rPr>
              <a:t>Yash Raj Kushwaha</a:t>
            </a:r>
          </a:p>
        </p:txBody>
      </p:sp>
      <p:sp>
        <p:nvSpPr>
          <p:cNvPr name="TextBox 21" id="21"/>
          <p:cNvSpPr txBox="true"/>
          <p:nvPr/>
        </p:nvSpPr>
        <p:spPr>
          <a:xfrm rot="0">
            <a:off x="9233440" y="4057002"/>
            <a:ext cx="3111532" cy="289827"/>
          </a:xfrm>
          <a:prstGeom prst="rect">
            <a:avLst/>
          </a:prstGeom>
        </p:spPr>
        <p:txBody>
          <a:bodyPr anchor="t" rtlCol="false" tIns="0" lIns="0" bIns="0" rIns="0">
            <a:spAutoFit/>
          </a:bodyPr>
          <a:lstStyle/>
          <a:p>
            <a:pPr algn="l">
              <a:lnSpc>
                <a:spcPts val="1801"/>
              </a:lnSpc>
            </a:pPr>
            <a:r>
              <a:rPr lang="en-US" sz="1501">
                <a:solidFill>
                  <a:srgbClr val="666E80"/>
                </a:solidFill>
                <a:latin typeface="Calibri (MS)"/>
                <a:ea typeface="Calibri (MS)"/>
                <a:cs typeface="Calibri (MS)"/>
                <a:sym typeface="Calibri (MS)"/>
              </a:rPr>
              <a:t>26BCE10122</a:t>
            </a:r>
          </a:p>
        </p:txBody>
      </p:sp>
      <p:grpSp>
        <p:nvGrpSpPr>
          <p:cNvPr name="Group 22" id="22"/>
          <p:cNvGrpSpPr/>
          <p:nvPr/>
        </p:nvGrpSpPr>
        <p:grpSpPr>
          <a:xfrm rot="0">
            <a:off x="12879857" y="2461279"/>
            <a:ext cx="3862549" cy="3038942"/>
            <a:chOff x="0" y="0"/>
            <a:chExt cx="5150066" cy="4051922"/>
          </a:xfrm>
        </p:grpSpPr>
        <p:sp>
          <p:nvSpPr>
            <p:cNvPr name="Freeform 23" id="23"/>
            <p:cNvSpPr/>
            <p:nvPr/>
          </p:nvSpPr>
          <p:spPr>
            <a:xfrm flipH="false" flipV="false" rot="0">
              <a:off x="0" y="0"/>
              <a:ext cx="5149977" cy="4051935"/>
            </a:xfrm>
            <a:custGeom>
              <a:avLst/>
              <a:gdLst/>
              <a:ahLst/>
              <a:cxnLst/>
              <a:rect r="r" b="b" t="t" l="l"/>
              <a:pathLst>
                <a:path h="4051935" w="5149977">
                  <a:moveTo>
                    <a:pt x="0" y="202565"/>
                  </a:moveTo>
                  <a:cubicBezTo>
                    <a:pt x="0" y="90678"/>
                    <a:pt x="90678" y="0"/>
                    <a:pt x="202565" y="0"/>
                  </a:cubicBezTo>
                  <a:lnTo>
                    <a:pt x="4947412" y="0"/>
                  </a:lnTo>
                  <a:cubicBezTo>
                    <a:pt x="5059299" y="0"/>
                    <a:pt x="5149977" y="90678"/>
                    <a:pt x="5149977" y="202565"/>
                  </a:cubicBezTo>
                  <a:lnTo>
                    <a:pt x="5149977" y="3849370"/>
                  </a:lnTo>
                  <a:cubicBezTo>
                    <a:pt x="5149977" y="3961257"/>
                    <a:pt x="5059299" y="4051935"/>
                    <a:pt x="4947412" y="4051935"/>
                  </a:cubicBezTo>
                  <a:lnTo>
                    <a:pt x="202565" y="4051935"/>
                  </a:lnTo>
                  <a:cubicBezTo>
                    <a:pt x="90678" y="4051935"/>
                    <a:pt x="0" y="3961257"/>
                    <a:pt x="0" y="3849370"/>
                  </a:cubicBezTo>
                  <a:close/>
                </a:path>
              </a:pathLst>
            </a:custGeom>
            <a:solidFill>
              <a:srgbClr val="111622"/>
            </a:solidFill>
            <a:ln w="19065" cap="sq">
              <a:solidFill>
                <a:srgbClr val="00F0C8"/>
              </a:solidFill>
              <a:prstDash val="solid"/>
              <a:miter/>
            </a:ln>
          </p:spPr>
        </p:sp>
      </p:grpSp>
      <p:sp>
        <p:nvSpPr>
          <p:cNvPr name="TextBox 24" id="24"/>
          <p:cNvSpPr txBox="true"/>
          <p:nvPr/>
        </p:nvSpPr>
        <p:spPr>
          <a:xfrm rot="0">
            <a:off x="13255371" y="2705338"/>
            <a:ext cx="640728" cy="817893"/>
          </a:xfrm>
          <a:prstGeom prst="rect">
            <a:avLst/>
          </a:prstGeom>
        </p:spPr>
        <p:txBody>
          <a:bodyPr anchor="t" rtlCol="false" tIns="0" lIns="0" bIns="0" rIns="0">
            <a:spAutoFit/>
          </a:bodyPr>
          <a:lstStyle/>
          <a:p>
            <a:pPr algn="l">
              <a:lnSpc>
                <a:spcPts val="5043"/>
              </a:lnSpc>
            </a:pPr>
            <a:r>
              <a:rPr lang="en-US" sz="4203">
                <a:solidFill>
                  <a:srgbClr val="00F0C8"/>
                </a:solidFill>
                <a:latin typeface="Calibri (MS)"/>
                <a:ea typeface="Calibri (MS)"/>
                <a:cs typeface="Calibri (MS)"/>
                <a:sym typeface="Calibri (MS)"/>
              </a:rPr>
              <a:t>🛡️</a:t>
            </a:r>
          </a:p>
        </p:txBody>
      </p:sp>
      <p:sp>
        <p:nvSpPr>
          <p:cNvPr name="TextBox 25" id="25"/>
          <p:cNvSpPr txBox="true"/>
          <p:nvPr/>
        </p:nvSpPr>
        <p:spPr>
          <a:xfrm rot="0">
            <a:off x="13255371" y="3576571"/>
            <a:ext cx="3111532" cy="427091"/>
          </a:xfrm>
          <a:prstGeom prst="rect">
            <a:avLst/>
          </a:prstGeom>
        </p:spPr>
        <p:txBody>
          <a:bodyPr anchor="t" rtlCol="false" tIns="0" lIns="0" bIns="0" rIns="0">
            <a:spAutoFit/>
          </a:bodyPr>
          <a:lstStyle/>
          <a:p>
            <a:pPr algn="l">
              <a:lnSpc>
                <a:spcPts val="2882"/>
              </a:lnSpc>
            </a:pPr>
            <a:r>
              <a:rPr lang="en-US" sz="2401" b="true">
                <a:solidFill>
                  <a:srgbClr val="EEEEF0"/>
                </a:solidFill>
                <a:latin typeface="Calibri (MS) Bold"/>
                <a:ea typeface="Calibri (MS) Bold"/>
                <a:cs typeface="Calibri (MS) Bold"/>
                <a:sym typeface="Calibri (MS) Bold"/>
              </a:rPr>
              <a:t>Mangal Nath Yadav</a:t>
            </a:r>
          </a:p>
        </p:txBody>
      </p:sp>
      <p:sp>
        <p:nvSpPr>
          <p:cNvPr name="TextBox 26" id="26"/>
          <p:cNvSpPr txBox="true"/>
          <p:nvPr/>
        </p:nvSpPr>
        <p:spPr>
          <a:xfrm rot="0">
            <a:off x="13255371" y="4057002"/>
            <a:ext cx="3111532" cy="289827"/>
          </a:xfrm>
          <a:prstGeom prst="rect">
            <a:avLst/>
          </a:prstGeom>
        </p:spPr>
        <p:txBody>
          <a:bodyPr anchor="t" rtlCol="false" tIns="0" lIns="0" bIns="0" rIns="0">
            <a:spAutoFit/>
          </a:bodyPr>
          <a:lstStyle/>
          <a:p>
            <a:pPr algn="l">
              <a:lnSpc>
                <a:spcPts val="1801"/>
              </a:lnSpc>
            </a:pPr>
            <a:r>
              <a:rPr lang="en-US" sz="1501">
                <a:solidFill>
                  <a:srgbClr val="666E80"/>
                </a:solidFill>
                <a:latin typeface="Calibri (MS)"/>
                <a:ea typeface="Calibri (MS)"/>
                <a:cs typeface="Calibri (MS)"/>
                <a:sym typeface="Calibri (MS)"/>
              </a:rPr>
              <a:t>26BHI10047</a:t>
            </a:r>
          </a:p>
        </p:txBody>
      </p:sp>
      <p:sp>
        <p:nvSpPr>
          <p:cNvPr name="TextBox 27" id="27"/>
          <p:cNvSpPr txBox="true"/>
          <p:nvPr/>
        </p:nvSpPr>
        <p:spPr>
          <a:xfrm rot="0">
            <a:off x="915048" y="6028325"/>
            <a:ext cx="16014659" cy="514779"/>
          </a:xfrm>
          <a:prstGeom prst="rect">
            <a:avLst/>
          </a:prstGeom>
        </p:spPr>
        <p:txBody>
          <a:bodyPr anchor="t" rtlCol="false" tIns="0" lIns="0" bIns="0" rIns="0">
            <a:spAutoFit/>
          </a:bodyPr>
          <a:lstStyle/>
          <a:p>
            <a:pPr algn="l">
              <a:lnSpc>
                <a:spcPts val="3242"/>
              </a:lnSpc>
            </a:pPr>
            <a:r>
              <a:rPr lang="en-US" sz="2702" b="true">
                <a:solidFill>
                  <a:srgbClr val="EEEEF0"/>
                </a:solidFill>
                <a:latin typeface="Calibri (MS) Bold"/>
                <a:ea typeface="Calibri (MS) Bold"/>
                <a:cs typeface="Calibri (MS) Bold"/>
                <a:sym typeface="Calibri (MS) Bold"/>
              </a:rPr>
              <a:t>WHY ScamShield AI MATTERS</a:t>
            </a:r>
          </a:p>
        </p:txBody>
      </p:sp>
      <p:sp>
        <p:nvSpPr>
          <p:cNvPr name="TextBox 28" id="28"/>
          <p:cNvSpPr txBox="true"/>
          <p:nvPr/>
        </p:nvSpPr>
        <p:spPr>
          <a:xfrm rot="0">
            <a:off x="915048" y="6491669"/>
            <a:ext cx="15602855" cy="2796778"/>
          </a:xfrm>
          <a:prstGeom prst="rect">
            <a:avLst/>
          </a:prstGeom>
        </p:spPr>
        <p:txBody>
          <a:bodyPr anchor="t" rtlCol="false" tIns="0" lIns="0" bIns="0" rIns="0">
            <a:spAutoFit/>
          </a:bodyPr>
          <a:lstStyle/>
          <a:p>
            <a:pPr algn="l">
              <a:lnSpc>
                <a:spcPts val="3242"/>
              </a:lnSpc>
            </a:pPr>
            <a:r>
              <a:rPr lang="en-US" sz="1801" b="true">
                <a:solidFill>
                  <a:srgbClr val="00F0C8"/>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India's digital payment ecosystem processes 13 billion+ UPI transactions monthly — the largest real-time payment system in the world</a:t>
            </a:r>
          </a:p>
          <a:p>
            <a:pPr algn="l">
              <a:lnSpc>
                <a:spcPts val="3242"/>
              </a:lnSpc>
            </a:pPr>
            <a:r>
              <a:rPr lang="en-US" sz="1801" b="true">
                <a:solidFill>
                  <a:srgbClr val="00F0C8"/>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Social engineering attacks exploit human psychology, not technical vulnerabilities — defense must work at the human decision point</a:t>
            </a:r>
          </a:p>
          <a:p>
            <a:pPr algn="l">
              <a:lnSpc>
                <a:spcPts val="3242"/>
              </a:lnSpc>
            </a:pPr>
            <a:r>
              <a:rPr lang="en-US" sz="1801" b="true">
                <a:solidFill>
                  <a:srgbClr val="00F0C8"/>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ScamShield AI shifts the paradigm: instead of reactive fraud detection, we enable proactive pre-click threat intelligence</a:t>
            </a:r>
          </a:p>
          <a:p>
            <a:pPr algn="l">
              <a:lnSpc>
                <a:spcPts val="3242"/>
              </a:lnSpc>
            </a:pPr>
            <a:r>
              <a:rPr lang="en-US" sz="1801" b="true">
                <a:solidFill>
                  <a:srgbClr val="00F0C8"/>
                </a:solidFill>
                <a:latin typeface="Calibri (MS) Bold"/>
                <a:ea typeface="Calibri (MS) Bold"/>
                <a:cs typeface="Calibri (MS) Bold"/>
                <a:sym typeface="Calibri (MS) Bold"/>
              </a:rPr>
              <a:t>▸ </a:t>
            </a:r>
            <a:r>
              <a:rPr lang="en-US" sz="1801">
                <a:solidFill>
                  <a:srgbClr val="99A0B0"/>
                </a:solidFill>
                <a:latin typeface="Calibri (MS)"/>
                <a:ea typeface="Calibri (MS)"/>
                <a:cs typeface="Calibri (MS)"/>
                <a:sym typeface="Calibri (MS)"/>
              </a:rPr>
              <a:t>Zero-trust approach treats every link as hostile — matching the reality of India's active scam landscape</a:t>
            </a:r>
          </a:p>
        </p:txBody>
      </p:sp>
      <p:grpSp>
        <p:nvGrpSpPr>
          <p:cNvPr name="Group 29" id="29"/>
          <p:cNvGrpSpPr/>
          <p:nvPr/>
        </p:nvGrpSpPr>
        <p:grpSpPr>
          <a:xfrm rot="0">
            <a:off x="0" y="9608706"/>
            <a:ext cx="18301840" cy="19069"/>
            <a:chOff x="0" y="0"/>
            <a:chExt cx="24402453" cy="25425"/>
          </a:xfrm>
        </p:grpSpPr>
        <p:sp>
          <p:nvSpPr>
            <p:cNvPr name="Freeform 30" id="30"/>
            <p:cNvSpPr/>
            <p:nvPr/>
          </p:nvSpPr>
          <p:spPr>
            <a:xfrm flipH="false" flipV="false" rot="0">
              <a:off x="0" y="0"/>
              <a:ext cx="24402414" cy="25400"/>
            </a:xfrm>
            <a:custGeom>
              <a:avLst/>
              <a:gdLst/>
              <a:ahLst/>
              <a:cxnLst/>
              <a:rect r="r" b="b" t="t" l="l"/>
              <a:pathLst>
                <a:path h="25400" w="24402414">
                  <a:moveTo>
                    <a:pt x="0" y="0"/>
                  </a:moveTo>
                  <a:lnTo>
                    <a:pt x="24402414" y="0"/>
                  </a:lnTo>
                  <a:lnTo>
                    <a:pt x="24402414" y="25400"/>
                  </a:lnTo>
                  <a:lnTo>
                    <a:pt x="0" y="25400"/>
                  </a:lnTo>
                  <a:close/>
                </a:path>
              </a:pathLst>
            </a:custGeom>
            <a:solidFill>
              <a:srgbClr val="00F0C8"/>
            </a:solidFill>
          </p:spPr>
        </p:sp>
      </p:grpSp>
      <p:sp>
        <p:nvSpPr>
          <p:cNvPr name="TextBox 31" id="31"/>
          <p:cNvSpPr txBox="true"/>
          <p:nvPr/>
        </p:nvSpPr>
        <p:spPr>
          <a:xfrm rot="0">
            <a:off x="915048" y="9684963"/>
            <a:ext cx="8053159" cy="427091"/>
          </a:xfrm>
          <a:prstGeom prst="rect">
            <a:avLst/>
          </a:prstGeom>
        </p:spPr>
        <p:txBody>
          <a:bodyPr anchor="t" rtlCol="false" tIns="0" lIns="0" bIns="0" rIns="0">
            <a:spAutoFit/>
          </a:bodyPr>
          <a:lstStyle/>
          <a:p>
            <a:pPr algn="l">
              <a:lnSpc>
                <a:spcPts val="1801"/>
              </a:lnSpc>
            </a:pPr>
            <a:r>
              <a:rPr lang="en-US" sz="1501">
                <a:solidFill>
                  <a:srgbClr val="666E80"/>
                </a:solidFill>
                <a:latin typeface="Calibri (MS)"/>
                <a:ea typeface="Calibri (MS)"/>
                <a:cs typeface="Calibri (MS)"/>
                <a:sym typeface="Calibri (MS)"/>
              </a:rPr>
              <a:t>Track 04.1 · The Scam That Almost Worked · IEEE VIT Bhopal</a:t>
            </a:r>
          </a:p>
        </p:txBody>
      </p:sp>
      <p:sp>
        <p:nvSpPr>
          <p:cNvPr name="TextBox 32" id="32"/>
          <p:cNvSpPr txBox="true"/>
          <p:nvPr/>
        </p:nvSpPr>
        <p:spPr>
          <a:xfrm rot="0">
            <a:off x="9700146" y="9684963"/>
            <a:ext cx="7366816" cy="427091"/>
          </a:xfrm>
          <a:prstGeom prst="rect">
            <a:avLst/>
          </a:prstGeom>
        </p:spPr>
        <p:txBody>
          <a:bodyPr anchor="t" rtlCol="false" tIns="0" lIns="0" bIns="0" rIns="0">
            <a:spAutoFit/>
          </a:bodyPr>
          <a:lstStyle/>
          <a:p>
            <a:pPr algn="r">
              <a:lnSpc>
                <a:spcPts val="1801"/>
              </a:lnSpc>
            </a:pPr>
            <a:r>
              <a:rPr lang="en-US" sz="1501">
                <a:solidFill>
                  <a:srgbClr val="666E80"/>
                </a:solidFill>
                <a:latin typeface="Calibri (MS)"/>
                <a:ea typeface="Calibri (MS)"/>
                <a:cs typeface="Calibri (MS)"/>
                <a:sym typeface="Calibri (MS)"/>
              </a:rPr>
              <a:t>ScamShield AI — D43M0N$ — October 2026</a:t>
            </a:r>
          </a:p>
        </p:txBody>
      </p:sp>
      <p:grpSp>
        <p:nvGrpSpPr>
          <p:cNvPr name="Group 33" id="33"/>
          <p:cNvGrpSpPr/>
          <p:nvPr/>
        </p:nvGrpSpPr>
        <p:grpSpPr>
          <a:xfrm rot="0">
            <a:off x="0" y="10226411"/>
            <a:ext cx="18301840" cy="76257"/>
            <a:chOff x="0" y="0"/>
            <a:chExt cx="24402453" cy="101676"/>
          </a:xfrm>
        </p:grpSpPr>
        <p:sp>
          <p:nvSpPr>
            <p:cNvPr name="Freeform 34" id="34"/>
            <p:cNvSpPr/>
            <p:nvPr/>
          </p:nvSpPr>
          <p:spPr>
            <a:xfrm flipH="false" flipV="false" rot="0">
              <a:off x="0" y="0"/>
              <a:ext cx="24402414" cy="101727"/>
            </a:xfrm>
            <a:custGeom>
              <a:avLst/>
              <a:gdLst/>
              <a:ahLst/>
              <a:cxnLst/>
              <a:rect r="r" b="b" t="t" l="l"/>
              <a:pathLst>
                <a:path h="101727" w="24402414">
                  <a:moveTo>
                    <a:pt x="0" y="0"/>
                  </a:moveTo>
                  <a:lnTo>
                    <a:pt x="24402414" y="0"/>
                  </a:lnTo>
                  <a:lnTo>
                    <a:pt x="24402414" y="101727"/>
                  </a:lnTo>
                  <a:lnTo>
                    <a:pt x="0" y="101727"/>
                  </a:lnTo>
                  <a:close/>
                </a:path>
              </a:pathLst>
            </a:custGeom>
            <a:solidFill>
              <a:srgbClr val="00F0C8"/>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DAHW-NMfbwU</dc:identifier>
  <dcterms:modified xsi:type="dcterms:W3CDTF">2011-08-01T06:04:30Z</dcterms:modified>
  <cp:revision>1</cp:revision>
  <dc:title>ScamShield_AI_IdeaDeck_D43M0N$.pptx</dc:title>
</cp:coreProperties>
</file>